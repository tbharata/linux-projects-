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ed1788c3-0c59-0db9-47d5-7ddd4cc11602}">
          <p14:sldIdLst>
            <p14:sldId id="256"/>
            <p14:sldId id="257"/>
            <p14:sldId id="258"/>
            <p14:sldId id="259"/>
            <p14:sldId id="260"/>
            <p14:sldId id="261"/>
            <p14:sldId id="262"/>
          </p14:sldIdLst>
        </p14:section>
        <p14:section name="Design" id="{f9586908-0777-9000-dc36-d0ee1485c3bb}">
          <p14:sldIdLst>
            <p14:sldId id="263"/>
            <p14:sldId id="264"/>
            <p14:sldId id="265"/>
            <p14:sldId id="266"/>
          </p14:sldIdLst>
        </p14:section>
        <p14:section name="Implementation" id="{0df06564-3b22-38c2-f873-a70456bb4d5e}">
          <p14:sldIdLst>
            <p14:sldId id="267"/>
            <p14:sldId id="268"/>
            <p14:sldId id="269"/>
            <p14:sldId id="270"/>
            <p14:sldId id="271"/>
          </p14:sldIdLst>
        </p14:section>
        <p14:section name="Results" id="{d029cb1f-2575-6ff7-d135-5a1794ea2f05}">
          <p14:sldIdLst>
            <p14:sldId id="272"/>
            <p14:sldId id="273"/>
            <p14:sldId id="274"/>
            <p14:sldId id="275"/>
            <p14:sldId id="276"/>
          </p14:sldIdLst>
        </p14:section>
        <p14:section name="Wrap-up" id="{415338b3-b089-48e2-625a-be68103d8b11}">
          <p14:sldIdLst>
            <p14:sldId id="277"/>
            <p14:sldId id="27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project and both members: Venkatesh Sharma and Talluru Bharata.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Linux and Bash background, then what this project does.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Manual attendance is slow and error-prone; we need an automatic command-line tool.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Nine learning and project objectives.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Academic demonstration; one class at a time; no database or GUI.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Manual registers and spreadsheets; limitations listed.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Automated workflow using a Bash script.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Hardware and software needed.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Input, processing, output and the 75% criteria. Flowchart on the next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Menu loop repeats until Exit. Data files are comma-separated text.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Eleven-step algorithm of the program.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terminal steps to set up and run.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Excerpts: setup, add_student and mark_attendance. The complete script is in attendance.sh and in the report.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Excerpts: view_by_date, percentage logic and the main menu loop.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Adding a student and marking attendance, including an invalid entry that is rejected.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View by date and the percentage report. Priya has exactly 75% so she is ELIGIBLE; Arjun has 50%.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ten test cases passed.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Responsibilities as listed in the project report.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Strengths and current limits of version 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Possible next steps.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After this project students can do the following.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Summarise: simple Linux tools solve a real record-keeping problem.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Thank the audience and invite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rgbClr val="0E2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868680"/>
            <a:ext cx="786384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rgbClr val="0E2F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757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_DARK">
    <p:bg>
      <p:bgPr>
        <a:solidFill>
          <a:srgbClr val="0E2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B8B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757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front-1.png"/><Relationship Id="rId2" Type="http://schemas.openxmlformats.org/officeDocument/2006/relationships/image" Target="../media/front-2.png"/><Relationship Id="rId3" Type="http://schemas.openxmlformats.org/officeDocument/2006/relationships/image" Target="../media/front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image" Target="../media/image-20-4.png"/><Relationship Id="rId5" Type="http://schemas.openxmlformats.org/officeDocument/2006/relationships/image" Target="../media/image-20-5.png"/><Relationship Id="rId6" Type="http://schemas.openxmlformats.org/officeDocument/2006/relationships/image" Target="../media/image-20-6.png"/><Relationship Id="rId7" Type="http://schemas.openxmlformats.org/officeDocument/2006/relationships/image" Target="../media/image-20-7.png"/><Relationship Id="rId8" Type="http://schemas.openxmlformats.org/officeDocument/2006/relationships/slideLayout" Target="../slideLayouts/slideLayout3.xml"/><Relationship Id="rId9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image" Target="../media/image-21-4.png"/><Relationship Id="rId5" Type="http://schemas.openxmlformats.org/officeDocument/2006/relationships/image" Target="../media/image-21-5.png"/><Relationship Id="rId6" Type="http://schemas.openxmlformats.org/officeDocument/2006/relationships/image" Target="../media/image-21-6.png"/><Relationship Id="rId7" Type="http://schemas.openxmlformats.org/officeDocument/2006/relationships/image" Target="../media/image-21-7.png"/><Relationship Id="rId8" Type="http://schemas.openxmlformats.org/officeDocument/2006/relationships/image" Target="../media/image-21-8.png"/><Relationship Id="rId9" Type="http://schemas.openxmlformats.org/officeDocument/2006/relationships/image" Target="../media/image-21-9.png"/><Relationship Id="rId10" Type="http://schemas.openxmlformats.org/officeDocument/2006/relationships/image" Target="../media/image-21-10.png"/><Relationship Id="rId11" Type="http://schemas.openxmlformats.org/officeDocument/2006/relationships/image" Target="../media/image-21-11.png"/><Relationship Id="rId12" Type="http://schemas.openxmlformats.org/officeDocument/2006/relationships/slideLayout" Target="../slideLayouts/slideLayout3.xml"/><Relationship Id="rId1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KL logo" descr="KL University 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65760"/>
            <a:ext cx="2194560" cy="1057523"/>
          </a:xfrm>
          <a:prstGeom prst="rect">
            <a:avLst/>
          </a:prstGeom>
        </p:spPr>
      </p:pic>
      <p:sp>
        <p:nvSpPr>
          <p:cNvPr id="3" name="Chip Dept. of CSA – BCA"/>
          <p:cNvSpPr/>
          <p:nvPr/>
        </p:nvSpPr>
        <p:spPr>
          <a:xfrm>
            <a:off x="6400800" y="411480"/>
            <a:ext cx="2286000" cy="365760"/>
          </a:xfrm>
          <a:prstGeom prst="roundRect">
            <a:avLst>
              <a:gd name="adj" fmla="val 50000"/>
            </a:avLst>
          </a:prstGeom>
          <a:solidFill>
            <a:srgbClr val="F8EEEE"/>
          </a:solidFill>
          <a:ln/>
        </p:spPr>
      </p:sp>
      <p:sp>
        <p:nvSpPr>
          <p:cNvPr id="4" name="Chip text Dept. of CSA – BCA"/>
          <p:cNvSpPr txBox="1"/>
          <p:nvPr/>
        </p:nvSpPr>
        <p:spPr>
          <a:xfrm>
            <a:off x="6400800" y="4114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A90000"/>
                </a:solidFill>
              </a:rPr>
              <a:t>Dept. of CSA – BCA</a:t>
            </a:r>
            <a:endParaRPr lang="en-US" sz="1400" dirty="0"/>
          </a:p>
        </p:txBody>
      </p:sp>
      <p:sp>
        <p:nvSpPr>
          <p:cNvPr id="5" name="Chip I Year – I Semester"/>
          <p:cNvSpPr/>
          <p:nvPr/>
        </p:nvSpPr>
        <p:spPr>
          <a:xfrm>
            <a:off x="6400800" y="886968"/>
            <a:ext cx="2286000" cy="365760"/>
          </a:xfrm>
          <a:prstGeom prst="roundRect">
            <a:avLst>
              <a:gd name="adj" fmla="val 50000"/>
            </a:avLst>
          </a:prstGeom>
          <a:solidFill>
            <a:srgbClr val="F8EEEE"/>
          </a:solidFill>
          <a:ln/>
        </p:spPr>
      </p:sp>
      <p:sp>
        <p:nvSpPr>
          <p:cNvPr id="6" name="Chip text I Year – I Semester"/>
          <p:cNvSpPr txBox="1"/>
          <p:nvPr/>
        </p:nvSpPr>
        <p:spPr>
          <a:xfrm>
            <a:off x="6400800" y="88696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A90000"/>
                </a:solidFill>
              </a:rPr>
              <a:t>I Year – I Semester</a:t>
            </a:r>
            <a:endParaRPr lang="en-US" sz="1400" dirty="0"/>
          </a:p>
        </p:txBody>
      </p:sp>
      <p:sp>
        <p:nvSpPr>
          <p:cNvPr id="7" name="Text 0"/>
          <p:cNvSpPr/>
          <p:nvPr>
            <p:ph idx="100" type="title" hasCustomPrompt="1"/>
          </p:nvPr>
        </p:nvSpPr>
        <p:spPr>
          <a:xfrm>
            <a:off x="457200" y="16916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1F1A1A"/>
                </a:solidFill>
              </a:rPr>
              <a:t>Student Attendance Management</a:t>
            </a:r>
            <a:endParaRPr lang="en-US" sz="3800" dirty="0"/>
          </a:p>
        </p:txBody>
      </p:sp>
      <p:sp>
        <p:nvSpPr>
          <p:cNvPr id="8" name="Team name pill"/>
          <p:cNvSpPr/>
          <p:nvPr/>
        </p:nvSpPr>
        <p:spPr>
          <a:xfrm>
            <a:off x="457200" y="2788920"/>
            <a:ext cx="4754880" cy="411480"/>
          </a:xfrm>
          <a:prstGeom prst="roundRect">
            <a:avLst>
              <a:gd name="adj" fmla="val 48889"/>
            </a:avLst>
          </a:prstGeom>
          <a:solidFill>
            <a:srgbClr val="A90000"/>
          </a:solidFill>
          <a:ln/>
        </p:spPr>
      </p:sp>
      <p:sp>
        <p:nvSpPr>
          <p:cNvPr id="9" name="Team name text"/>
          <p:cNvSpPr txBox="1"/>
          <p:nvPr/>
        </p:nvSpPr>
        <p:spPr>
          <a:xfrm>
            <a:off x="457200" y="278892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Team Name: Open Source Crew</a:t>
            </a:r>
            <a:endParaRPr lang="en-US" sz="1600" dirty="0"/>
          </a:p>
        </p:txBody>
      </p:sp>
      <p:sp>
        <p:nvSpPr>
          <p:cNvPr id="10" name="Student card 1"/>
          <p:cNvSpPr/>
          <p:nvPr/>
        </p:nvSpPr>
        <p:spPr>
          <a:xfrm>
            <a:off x="457200" y="3291840"/>
            <a:ext cx="4023360" cy="740000"/>
          </a:xfrm>
          <a:prstGeom prst="roundRect">
            <a:avLst>
              <a:gd name="adj" fmla="val 6667"/>
            </a:avLst>
          </a:prstGeom>
          <a:solidFill>
            <a:srgbClr val="F8EEEE"/>
          </a:solidFill>
          <a:ln/>
        </p:spPr>
      </p:sp>
      <p:sp>
        <p:nvSpPr>
          <p:cNvPr id="11" name="Student icon badge 1"/>
          <p:cNvSpPr/>
          <p:nvPr/>
        </p:nvSpPr>
        <p:spPr>
          <a:xfrm>
            <a:off x="685800" y="3387520"/>
            <a:ext cx="548640" cy="548640"/>
          </a:xfrm>
          <a:prstGeom prst="ellipse">
            <a:avLst/>
          </a:prstGeom>
          <a:solidFill>
            <a:srgbClr val="A90000"/>
          </a:solidFill>
          <a:ln/>
        </p:spPr>
      </p:sp>
      <p:pic>
        <p:nvPicPr>
          <p:cNvPr id="12" name="Student icon 1" descr="Student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3542968"/>
            <a:ext cx="237744" cy="237744"/>
          </a:xfrm>
          <a:prstGeom prst="rect">
            <a:avLst/>
          </a:prstGeom>
        </p:spPr>
      </p:pic>
      <p:sp>
        <p:nvSpPr>
          <p:cNvPr id="13" name="Student name 1"/>
          <p:cNvSpPr txBox="1"/>
          <p:nvPr/>
        </p:nvSpPr>
        <p:spPr>
          <a:xfrm>
            <a:off x="1417320" y="33868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1A1A"/>
                </a:solidFill>
              </a:rPr>
              <a:t>Venkatesh Sharma</a:t>
            </a:r>
            <a:endParaRPr lang="en-US" sz="1800" dirty="0"/>
          </a:p>
        </p:txBody>
      </p:sp>
      <p:sp>
        <p:nvSpPr>
          <p:cNvPr id="14" name="Roll number 1"/>
          <p:cNvSpPr txBox="1"/>
          <p:nvPr/>
        </p:nvSpPr>
        <p:spPr>
          <a:xfrm>
            <a:off x="1417320" y="37326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C5252"/>
                </a:solidFill>
              </a:rPr>
              <a:t>R.No: 2610520025</a:t>
            </a:r>
            <a:endParaRPr lang="en-US" sz="1600" dirty="0"/>
          </a:p>
        </p:txBody>
      </p:sp>
      <p:sp>
        <p:nvSpPr>
          <p:cNvPr id="15" name="Student card 2"/>
          <p:cNvSpPr/>
          <p:nvPr/>
        </p:nvSpPr>
        <p:spPr>
          <a:xfrm>
            <a:off x="4663440" y="3291840"/>
            <a:ext cx="4023360" cy="740000"/>
          </a:xfrm>
          <a:prstGeom prst="roundRect">
            <a:avLst>
              <a:gd name="adj" fmla="val 6667"/>
            </a:avLst>
          </a:prstGeom>
          <a:solidFill>
            <a:srgbClr val="F8EEEE"/>
          </a:solidFill>
          <a:ln/>
        </p:spPr>
      </p:sp>
      <p:sp>
        <p:nvSpPr>
          <p:cNvPr id="16" name="Student icon badge 2"/>
          <p:cNvSpPr/>
          <p:nvPr/>
        </p:nvSpPr>
        <p:spPr>
          <a:xfrm>
            <a:off x="4892040" y="3387520"/>
            <a:ext cx="548640" cy="548640"/>
          </a:xfrm>
          <a:prstGeom prst="ellipse">
            <a:avLst/>
          </a:prstGeom>
          <a:solidFill>
            <a:srgbClr val="A90000"/>
          </a:solidFill>
          <a:ln/>
        </p:spPr>
      </p:sp>
      <p:pic>
        <p:nvPicPr>
          <p:cNvPr id="17" name="Student icon 2" descr="Student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7488" y="3542968"/>
            <a:ext cx="237744" cy="237744"/>
          </a:xfrm>
          <a:prstGeom prst="rect">
            <a:avLst/>
          </a:prstGeom>
        </p:spPr>
      </p:pic>
      <p:sp>
        <p:nvSpPr>
          <p:cNvPr id="18" name="Student name 2"/>
          <p:cNvSpPr txBox="1"/>
          <p:nvPr/>
        </p:nvSpPr>
        <p:spPr>
          <a:xfrm>
            <a:off x="5623560" y="33868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1A1A"/>
                </a:solidFill>
              </a:rPr>
              <a:t>Talluru Bharata</a:t>
            </a:r>
            <a:endParaRPr lang="en-US" sz="1800" dirty="0"/>
          </a:p>
        </p:txBody>
      </p:sp>
      <p:sp>
        <p:nvSpPr>
          <p:cNvPr id="19" name="Roll number 2"/>
          <p:cNvSpPr txBox="1"/>
          <p:nvPr/>
        </p:nvSpPr>
        <p:spPr>
          <a:xfrm>
            <a:off x="5623560" y="37326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C5252"/>
                </a:solidFill>
              </a:rPr>
              <a:t>R.No: 2610520018</a:t>
            </a:r>
            <a:endParaRPr lang="en-US" sz="1600" dirty="0"/>
          </a:p>
        </p:txBody>
      </p:sp>
      <p:sp>
        <p:nvSpPr>
          <p:cNvPr id="20" name="Student card 1 b"/>
          <p:cNvSpPr/>
          <p:nvPr/>
        </p:nvSpPr>
        <p:spPr>
          <a:xfrm>
            <a:off x="457200" y="4091940"/>
            <a:ext cx="4023360" cy="740000"/>
          </a:xfrm>
          <a:prstGeom prst="roundRect">
            <a:avLst>
              <a:gd name="adj" fmla="val 6667"/>
            </a:avLst>
          </a:prstGeom>
          <a:solidFill>
            <a:srgbClr val="F8EEEE"/>
          </a:solidFill>
          <a:ln/>
        </p:spPr>
      </p:sp>
      <p:sp>
        <p:nvSpPr>
          <p:cNvPr id="21" name="Student icon badge 1 b"/>
          <p:cNvSpPr/>
          <p:nvPr/>
        </p:nvSpPr>
        <p:spPr>
          <a:xfrm>
            <a:off x="685800" y="4187620"/>
            <a:ext cx="548640" cy="548640"/>
          </a:xfrm>
          <a:prstGeom prst="ellipse">
            <a:avLst/>
          </a:prstGeom>
          <a:solidFill>
            <a:srgbClr val="A90000"/>
          </a:solidFill>
          <a:ln/>
        </p:spPr>
      </p:sp>
      <p:pic>
        <p:nvPicPr>
          <p:cNvPr id="22" name="Student icon 1 b" descr="Student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4343068"/>
            <a:ext cx="237744" cy="237744"/>
          </a:xfrm>
          <a:prstGeom prst="rect">
            <a:avLst/>
          </a:prstGeom>
        </p:spPr>
      </p:pic>
      <p:sp>
        <p:nvSpPr>
          <p:cNvPr id="23" name="Student name 1 b"/>
          <p:cNvSpPr txBox="1"/>
          <p:nvPr/>
        </p:nvSpPr>
        <p:spPr>
          <a:xfrm>
            <a:off x="1417320" y="41869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1A1A"/>
                </a:solidFill>
              </a:rPr>
              <a:t>Manchala Keerthy</a:t>
            </a:r>
            <a:endParaRPr lang="en-US" sz="1800" dirty="0"/>
          </a:p>
        </p:txBody>
      </p:sp>
      <p:sp>
        <p:nvSpPr>
          <p:cNvPr id="24" name="Roll number 1 b"/>
          <p:cNvSpPr txBox="1"/>
          <p:nvPr/>
        </p:nvSpPr>
        <p:spPr>
          <a:xfrm>
            <a:off x="1417320" y="45327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C5252"/>
                </a:solidFill>
              </a:rPr>
              <a:t>R.No: 2610520035</a:t>
            </a:r>
            <a:endParaRPr lang="en-US" sz="1600" dirty="0"/>
          </a:p>
        </p:txBody>
      </p:sp>
      <p:sp>
        <p:nvSpPr>
          <p:cNvPr id="25" name="Student card 2 b"/>
          <p:cNvSpPr/>
          <p:nvPr/>
        </p:nvSpPr>
        <p:spPr>
          <a:xfrm>
            <a:off x="4663440" y="4091940"/>
            <a:ext cx="4023360" cy="740000"/>
          </a:xfrm>
          <a:prstGeom prst="roundRect">
            <a:avLst>
              <a:gd name="adj" fmla="val 6667"/>
            </a:avLst>
          </a:prstGeom>
          <a:solidFill>
            <a:srgbClr val="F8EEEE"/>
          </a:solidFill>
          <a:ln/>
        </p:spPr>
      </p:sp>
      <p:sp>
        <p:nvSpPr>
          <p:cNvPr id="26" name="Student icon badge 2 b"/>
          <p:cNvSpPr/>
          <p:nvPr/>
        </p:nvSpPr>
        <p:spPr>
          <a:xfrm>
            <a:off x="4892040" y="4187620"/>
            <a:ext cx="548640" cy="548640"/>
          </a:xfrm>
          <a:prstGeom prst="ellipse">
            <a:avLst/>
          </a:prstGeom>
          <a:solidFill>
            <a:srgbClr val="A90000"/>
          </a:solidFill>
          <a:ln/>
        </p:spPr>
      </p:sp>
      <p:pic>
        <p:nvPicPr>
          <p:cNvPr id="27" name="Student icon 2 b" descr="Student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7488" y="4343068"/>
            <a:ext cx="237744" cy="237744"/>
          </a:xfrm>
          <a:prstGeom prst="rect">
            <a:avLst/>
          </a:prstGeom>
        </p:spPr>
      </p:pic>
      <p:sp>
        <p:nvSpPr>
          <p:cNvPr id="28" name="Student name 2 b"/>
          <p:cNvSpPr txBox="1"/>
          <p:nvPr/>
        </p:nvSpPr>
        <p:spPr>
          <a:xfrm>
            <a:off x="5623560" y="41869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1A1A"/>
                </a:solidFill>
              </a:rPr>
              <a:t>Mohammad Idris Ahmed</a:t>
            </a:r>
            <a:endParaRPr lang="en-US" sz="1800" dirty="0"/>
          </a:p>
        </p:txBody>
      </p:sp>
      <p:sp>
        <p:nvSpPr>
          <p:cNvPr id="29" name="Roll number 2 b"/>
          <p:cNvSpPr txBox="1"/>
          <p:nvPr/>
        </p:nvSpPr>
        <p:spPr>
          <a:xfrm>
            <a:off x="5623560" y="45327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C5252"/>
                </a:solidFill>
              </a:rPr>
              <a:t>R.No: 2610520008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2F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Introduction</a:t>
            </a:r>
            <a:endParaRPr lang="en-US" sz="30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188720"/>
            <a:ext cx="48463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provides a powerful command-line environment where repetitive tasks can be automated with shell scripts. Bash is one of the most widely used shells.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is a Student Attendance Management system written in Bash. It adds students, marks daily Present / Absent attendance, shows attendance by date, and reports each student’s percentage and eligibility. All records are saved in text files.</a:t>
            </a:r>
            <a:endParaRPr lang="en-US" sz="1600" dirty="0"/>
          </a:p>
        </p:txBody>
      </p:sp>
      <p:sp>
        <p:nvSpPr>
          <p:cNvPr id="5" name="intro tile 1"/>
          <p:cNvSpPr/>
          <p:nvPr/>
        </p:nvSpPr>
        <p:spPr>
          <a:xfrm>
            <a:off x="5577840" y="1188720"/>
            <a:ext cx="3108960" cy="1051560"/>
          </a:xfrm>
          <a:prstGeom prst="roundRect">
            <a:avLst>
              <a:gd name="adj" fmla="val 869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intro icon 1 circle"/>
          <p:cNvSpPr/>
          <p:nvPr/>
        </p:nvSpPr>
        <p:spPr>
          <a:xfrm>
            <a:off x="5760720" y="1444752"/>
            <a:ext cx="530352" cy="53035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7" name="intro icon 1" descr="intro icon 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93308" y="1577340"/>
            <a:ext cx="265176" cy="265176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6446520" y="1344168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terminal</a:t>
            </a:r>
            <a:endParaRPr lang="en-US" sz="1600" dirty="0"/>
          </a:p>
        </p:txBody>
      </p:sp>
      <p:sp>
        <p:nvSpPr>
          <p:cNvPr id="9" name="Text 5"/>
          <p:cNvSpPr txBox="1"/>
          <p:nvPr/>
        </p:nvSpPr>
        <p:spPr>
          <a:xfrm>
            <a:off x="6446520" y="1709928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C7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fully from the command line</a:t>
            </a:r>
            <a:endParaRPr lang="en-US" sz="1300" dirty="0"/>
          </a:p>
        </p:txBody>
      </p:sp>
      <p:sp>
        <p:nvSpPr>
          <p:cNvPr id="10" name="intro tile 2"/>
          <p:cNvSpPr/>
          <p:nvPr/>
        </p:nvSpPr>
        <p:spPr>
          <a:xfrm>
            <a:off x="5577840" y="2359152"/>
            <a:ext cx="3108960" cy="1051560"/>
          </a:xfrm>
          <a:prstGeom prst="roundRect">
            <a:avLst>
              <a:gd name="adj" fmla="val 869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intro icon 2 circle"/>
          <p:cNvSpPr/>
          <p:nvPr/>
        </p:nvSpPr>
        <p:spPr>
          <a:xfrm>
            <a:off x="5760720" y="2615184"/>
            <a:ext cx="530352" cy="53035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2" name="intro icon 2" descr="intro icon 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3308" y="2747772"/>
            <a:ext cx="265176" cy="265176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6446520" y="251460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Bash scripting</a:t>
            </a:r>
            <a:endParaRPr lang="en-US" sz="1600" dirty="0"/>
          </a:p>
        </p:txBody>
      </p:sp>
      <p:sp>
        <p:nvSpPr>
          <p:cNvPr id="14" name="Text 9"/>
          <p:cNvSpPr txBox="1"/>
          <p:nvPr/>
        </p:nvSpPr>
        <p:spPr>
          <a:xfrm>
            <a:off x="6446520" y="288036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C7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Functions, loops, case menu</a:t>
            </a:r>
            <a:endParaRPr lang="en-US" sz="1300" dirty="0"/>
          </a:p>
        </p:txBody>
      </p:sp>
      <p:sp>
        <p:nvSpPr>
          <p:cNvPr id="15" name="intro tile 3"/>
          <p:cNvSpPr/>
          <p:nvPr/>
        </p:nvSpPr>
        <p:spPr>
          <a:xfrm>
            <a:off x="5577840" y="3529584"/>
            <a:ext cx="3108960" cy="1051560"/>
          </a:xfrm>
          <a:prstGeom prst="roundRect">
            <a:avLst>
              <a:gd name="adj" fmla="val 869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intro icon 3 circle"/>
          <p:cNvSpPr/>
          <p:nvPr/>
        </p:nvSpPr>
        <p:spPr>
          <a:xfrm>
            <a:off x="5760720" y="3785616"/>
            <a:ext cx="530352" cy="53035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7" name="intro icon 3" descr="intro icon 3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3308" y="3918204"/>
            <a:ext cx="265176" cy="265176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6446520" y="3685032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Text-file storage</a:t>
            </a:r>
            <a:endParaRPr lang="en-US" sz="1600" dirty="0"/>
          </a:p>
        </p:txBody>
      </p:sp>
      <p:sp>
        <p:nvSpPr>
          <p:cNvPr id="19" name="Text 13"/>
          <p:cNvSpPr txBox="1"/>
          <p:nvPr/>
        </p:nvSpPr>
        <p:spPr>
          <a:xfrm>
            <a:off x="6446520" y="4050792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C7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stays after the program ends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757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2F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Problem Statement</a:t>
            </a:r>
            <a:endParaRPr lang="en-US" sz="3000" dirty="0"/>
          </a:p>
        </p:txBody>
      </p:sp>
      <p:sp>
        <p:nvSpPr>
          <p:cNvPr id="4" name="The Challenge card"/>
          <p:cNvSpPr/>
          <p:nvPr/>
        </p:nvSpPr>
        <p:spPr>
          <a:xfrm>
            <a:off x="457200" y="1143000"/>
            <a:ext cx="3977640" cy="3520440"/>
          </a:xfrm>
          <a:prstGeom prst="roundRect">
            <a:avLst>
              <a:gd name="adj" fmla="val 259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he Challenge icon circle"/>
          <p:cNvSpPr/>
          <p:nvPr/>
        </p:nvSpPr>
        <p:spPr>
          <a:xfrm>
            <a:off x="640080" y="1307592"/>
            <a:ext cx="457200" cy="4572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6" name="The Challenge icon" descr="The Challenge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4380" y="1421892"/>
            <a:ext cx="228600" cy="22860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234440" y="1307592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Challenge</a:t>
            </a:r>
            <a:endParaRPr lang="en-US" sz="1800" dirty="0"/>
          </a:p>
        </p:txBody>
      </p:sp>
      <p:sp>
        <p:nvSpPr>
          <p:cNvPr id="8" name="Text 4"/>
          <p:cNvSpPr txBox="1"/>
          <p:nvPr/>
        </p:nvSpPr>
        <p:spPr>
          <a:xfrm>
            <a:off x="731520" y="1920240"/>
            <a:ext cx="34290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Maintaining attendance in paper registers is time-consuming. Counting present days, calculating the percentage and spotting students with shortage must be done by hand, which leads to counting errors and delays.</a:t>
            </a:r>
            <a:endParaRPr lang="en-US" sz="1600" dirty="0"/>
          </a:p>
        </p:txBody>
      </p:sp>
      <p:sp>
        <p:nvSpPr>
          <p:cNvPr id="9" name="The System Should card"/>
          <p:cNvSpPr/>
          <p:nvPr/>
        </p:nvSpPr>
        <p:spPr>
          <a:xfrm>
            <a:off x="4709160" y="1143000"/>
            <a:ext cx="3977640" cy="3520440"/>
          </a:xfrm>
          <a:prstGeom prst="roundRect">
            <a:avLst>
              <a:gd name="adj" fmla="val 259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he System Should icon circle"/>
          <p:cNvSpPr/>
          <p:nvPr/>
        </p:nvSpPr>
        <p:spPr>
          <a:xfrm>
            <a:off x="4892040" y="1307592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1" name="The System Should icon" descr="The System Should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6340" y="1421892"/>
            <a:ext cx="228600" cy="22860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5486400" y="1307592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System Should</a:t>
            </a:r>
            <a:endParaRPr lang="en-US" sz="1800" dirty="0"/>
          </a:p>
        </p:txBody>
      </p:sp>
      <p:sp>
        <p:nvSpPr>
          <p:cNvPr id="13" name="Text 8"/>
          <p:cNvSpPr txBox="1"/>
          <p:nvPr/>
        </p:nvSpPr>
        <p:spPr>
          <a:xfrm>
            <a:off x="4983480" y="1920240"/>
            <a:ext cx="3474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roll number and name of students</a:t>
            </a:r>
            <a:endParaRPr lang="en-US" sz="15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daily Present / Absent</a:t>
            </a:r>
            <a:endParaRPr lang="en-US" sz="15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 duplicate rolls and dates</a:t>
            </a:r>
            <a:endParaRPr lang="en-US" sz="15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attendance of a selected date</a:t>
            </a:r>
            <a:endParaRPr lang="en-US" sz="15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 attendance percentage</a:t>
            </a:r>
            <a:endParaRPr lang="en-US" sz="15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students below 75%</a:t>
            </a:r>
            <a:endParaRPr lang="en-US" sz="15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records permanently in files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757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2F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Objectives</a:t>
            </a:r>
            <a:endParaRPr lang="en-US" sz="3000" dirty="0"/>
          </a:p>
        </p:txBody>
      </p:sp>
      <p:sp>
        <p:nvSpPr>
          <p:cNvPr id="4" name="objective card 1"/>
          <p:cNvSpPr/>
          <p:nvPr/>
        </p:nvSpPr>
        <p:spPr>
          <a:xfrm>
            <a:off x="457200" y="1188720"/>
            <a:ext cx="2651760" cy="1051560"/>
          </a:xfrm>
          <a:prstGeom prst="roundRect">
            <a:avLst>
              <a:gd name="adj" fmla="val 869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number badge 1"/>
          <p:cNvSpPr/>
          <p:nvPr/>
        </p:nvSpPr>
        <p:spPr>
          <a:xfrm>
            <a:off x="621792" y="1508760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21792" y="15087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1188720" y="1280160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the Linux terminal and basic Bash</a:t>
            </a:r>
            <a:endParaRPr lang="en-US" sz="1400" dirty="0"/>
          </a:p>
        </p:txBody>
      </p:sp>
      <p:sp>
        <p:nvSpPr>
          <p:cNvPr id="8" name="objective card 2"/>
          <p:cNvSpPr/>
          <p:nvPr/>
        </p:nvSpPr>
        <p:spPr>
          <a:xfrm>
            <a:off x="3246120" y="1188720"/>
            <a:ext cx="2651760" cy="1051560"/>
          </a:xfrm>
          <a:prstGeom prst="roundRect">
            <a:avLst>
              <a:gd name="adj" fmla="val 869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number badge 2"/>
          <p:cNvSpPr/>
          <p:nvPr/>
        </p:nvSpPr>
        <p:spPr>
          <a:xfrm>
            <a:off x="3410712" y="1508760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410712" y="15087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3977640" y="1280160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variables and user input</a:t>
            </a:r>
            <a:endParaRPr lang="en-US" sz="1400" dirty="0"/>
          </a:p>
        </p:txBody>
      </p:sp>
      <p:sp>
        <p:nvSpPr>
          <p:cNvPr id="12" name="objective card 3"/>
          <p:cNvSpPr/>
          <p:nvPr/>
        </p:nvSpPr>
        <p:spPr>
          <a:xfrm>
            <a:off x="6035040" y="1188720"/>
            <a:ext cx="2651760" cy="1051560"/>
          </a:xfrm>
          <a:prstGeom prst="roundRect">
            <a:avLst>
              <a:gd name="adj" fmla="val 869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number badge 3"/>
          <p:cNvSpPr/>
          <p:nvPr/>
        </p:nvSpPr>
        <p:spPr>
          <a:xfrm>
            <a:off x="6199632" y="1508760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199632" y="15087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6766560" y="1280160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menu with while loop and case</a:t>
            </a:r>
            <a:endParaRPr lang="en-US" sz="1400" dirty="0"/>
          </a:p>
        </p:txBody>
      </p:sp>
      <p:sp>
        <p:nvSpPr>
          <p:cNvPr id="16" name="objective card 4"/>
          <p:cNvSpPr/>
          <p:nvPr/>
        </p:nvSpPr>
        <p:spPr>
          <a:xfrm>
            <a:off x="457200" y="2377440"/>
            <a:ext cx="2651760" cy="1051560"/>
          </a:xfrm>
          <a:prstGeom prst="roundRect">
            <a:avLst>
              <a:gd name="adj" fmla="val 869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number badge 4"/>
          <p:cNvSpPr/>
          <p:nvPr/>
        </p:nvSpPr>
        <p:spPr>
          <a:xfrm>
            <a:off x="621792" y="2697480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21792" y="26974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1188720" y="2468880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and use Bash functions</a:t>
            </a:r>
            <a:endParaRPr lang="en-US" sz="1400" dirty="0"/>
          </a:p>
        </p:txBody>
      </p:sp>
      <p:sp>
        <p:nvSpPr>
          <p:cNvPr id="20" name="objective card 5"/>
          <p:cNvSpPr/>
          <p:nvPr/>
        </p:nvSpPr>
        <p:spPr>
          <a:xfrm>
            <a:off x="3246120" y="2377440"/>
            <a:ext cx="2651760" cy="1051560"/>
          </a:xfrm>
          <a:prstGeom prst="roundRect">
            <a:avLst>
              <a:gd name="adj" fmla="val 869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1" name="number badge 5"/>
          <p:cNvSpPr/>
          <p:nvPr/>
        </p:nvSpPr>
        <p:spPr>
          <a:xfrm>
            <a:off x="3410712" y="2697480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3410712" y="26974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3977640" y="2468880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and read data in text files</a:t>
            </a:r>
            <a:endParaRPr lang="en-US" sz="1400" dirty="0"/>
          </a:p>
        </p:txBody>
      </p:sp>
      <p:sp>
        <p:nvSpPr>
          <p:cNvPr id="24" name="objective card 6"/>
          <p:cNvSpPr/>
          <p:nvPr/>
        </p:nvSpPr>
        <p:spPr>
          <a:xfrm>
            <a:off x="6035040" y="2377440"/>
            <a:ext cx="2651760" cy="1051560"/>
          </a:xfrm>
          <a:prstGeom prst="roundRect">
            <a:avLst>
              <a:gd name="adj" fmla="val 869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5" name="number badge 6"/>
          <p:cNvSpPr/>
          <p:nvPr/>
        </p:nvSpPr>
        <p:spPr>
          <a:xfrm>
            <a:off x="6199632" y="2697480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6199632" y="26974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500" dirty="0"/>
          </a:p>
        </p:txBody>
      </p:sp>
      <p:sp>
        <p:nvSpPr>
          <p:cNvPr id="27" name="Text 24"/>
          <p:cNvSpPr txBox="1"/>
          <p:nvPr/>
        </p:nvSpPr>
        <p:spPr>
          <a:xfrm>
            <a:off x="6766560" y="2468880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grep, cut, printf, date, touch</a:t>
            </a:r>
            <a:endParaRPr lang="en-US" sz="1400" dirty="0"/>
          </a:p>
        </p:txBody>
      </p:sp>
      <p:sp>
        <p:nvSpPr>
          <p:cNvPr id="28" name="objective card 7"/>
          <p:cNvSpPr/>
          <p:nvPr/>
        </p:nvSpPr>
        <p:spPr>
          <a:xfrm>
            <a:off x="457200" y="3566160"/>
            <a:ext cx="2651760" cy="1051560"/>
          </a:xfrm>
          <a:prstGeom prst="roundRect">
            <a:avLst>
              <a:gd name="adj" fmla="val 869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9" name="number badge 7"/>
          <p:cNvSpPr/>
          <p:nvPr/>
        </p:nvSpPr>
        <p:spPr>
          <a:xfrm>
            <a:off x="621792" y="3886200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621792" y="38862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500" dirty="0"/>
          </a:p>
        </p:txBody>
      </p:sp>
      <p:sp>
        <p:nvSpPr>
          <p:cNvPr id="31" name="Text 28"/>
          <p:cNvSpPr txBox="1"/>
          <p:nvPr/>
        </p:nvSpPr>
        <p:spPr>
          <a:xfrm>
            <a:off x="1188720" y="3657600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 percentage with arithmetic</a:t>
            </a:r>
            <a:endParaRPr lang="en-US" sz="1400" dirty="0"/>
          </a:p>
        </p:txBody>
      </p:sp>
      <p:sp>
        <p:nvSpPr>
          <p:cNvPr id="32" name="objective card 8"/>
          <p:cNvSpPr/>
          <p:nvPr/>
        </p:nvSpPr>
        <p:spPr>
          <a:xfrm>
            <a:off x="3246120" y="3566160"/>
            <a:ext cx="2651760" cy="1051560"/>
          </a:xfrm>
          <a:prstGeom prst="roundRect">
            <a:avLst>
              <a:gd name="adj" fmla="val 869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3" name="number badge 8"/>
          <p:cNvSpPr/>
          <p:nvPr/>
        </p:nvSpPr>
        <p:spPr>
          <a:xfrm>
            <a:off x="3410712" y="3886200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3410712" y="38862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500" dirty="0"/>
          </a:p>
        </p:txBody>
      </p:sp>
      <p:sp>
        <p:nvSpPr>
          <p:cNvPr id="35" name="Text 32"/>
          <p:cNvSpPr txBox="1"/>
          <p:nvPr/>
        </p:nvSpPr>
        <p:spPr>
          <a:xfrm>
            <a:off x="3977640" y="3657600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input and handle errors</a:t>
            </a:r>
            <a:endParaRPr lang="en-US" sz="1400" dirty="0"/>
          </a:p>
        </p:txBody>
      </p:sp>
      <p:sp>
        <p:nvSpPr>
          <p:cNvPr id="36" name="objective card 9"/>
          <p:cNvSpPr/>
          <p:nvPr/>
        </p:nvSpPr>
        <p:spPr>
          <a:xfrm>
            <a:off x="6035040" y="3566160"/>
            <a:ext cx="2651760" cy="1051560"/>
          </a:xfrm>
          <a:prstGeom prst="roundRect">
            <a:avLst>
              <a:gd name="adj" fmla="val 869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7" name="number badge 9"/>
          <p:cNvSpPr/>
          <p:nvPr/>
        </p:nvSpPr>
        <p:spPr>
          <a:xfrm>
            <a:off x="6199632" y="3886200"/>
            <a:ext cx="411480" cy="4114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6199632" y="38862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1500" dirty="0"/>
          </a:p>
        </p:txBody>
      </p:sp>
      <p:sp>
        <p:nvSpPr>
          <p:cNvPr id="39" name="Text 36"/>
          <p:cNvSpPr txBox="1"/>
          <p:nvPr/>
        </p:nvSpPr>
        <p:spPr>
          <a:xfrm>
            <a:off x="6766560" y="3657600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 a working terminal demo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757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2F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 Scope of the Project</a:t>
            </a:r>
            <a:endParaRPr lang="en-US" sz="3000" dirty="0"/>
          </a:p>
        </p:txBody>
      </p:sp>
      <p:sp>
        <p:nvSpPr>
          <p:cNvPr id="4" name="scope card 1"/>
          <p:cNvSpPr/>
          <p:nvPr/>
        </p:nvSpPr>
        <p:spPr>
          <a:xfrm>
            <a:off x="457200" y="1188720"/>
            <a:ext cx="2651760" cy="1554480"/>
          </a:xfrm>
          <a:prstGeom prst="roundRect">
            <a:avLst>
              <a:gd name="adj" fmla="val 588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scope icon 1 circle"/>
          <p:cNvSpPr/>
          <p:nvPr/>
        </p:nvSpPr>
        <p:spPr>
          <a:xfrm>
            <a:off x="640080" y="1353312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scope icon 1" descr="scope icon 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4380" y="1467612"/>
            <a:ext cx="228600" cy="22860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234440" y="1353312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B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</a:t>
            </a:r>
            <a:endParaRPr lang="en-US" sz="1300" dirty="0"/>
          </a:p>
        </p:txBody>
      </p:sp>
      <p:sp>
        <p:nvSpPr>
          <p:cNvPr id="8" name="Text 4"/>
          <p:cNvSpPr txBox="1"/>
          <p:nvPr/>
        </p:nvSpPr>
        <p:spPr>
          <a:xfrm>
            <a:off x="640080" y="196596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Ubuntu Linux / WSL</a:t>
            </a:r>
            <a:endParaRPr lang="en-US" sz="1500" dirty="0"/>
          </a:p>
        </p:txBody>
      </p:sp>
      <p:sp>
        <p:nvSpPr>
          <p:cNvPr id="9" name="scope card 2"/>
          <p:cNvSpPr/>
          <p:nvPr/>
        </p:nvSpPr>
        <p:spPr>
          <a:xfrm>
            <a:off x="3246120" y="1188720"/>
            <a:ext cx="2651760" cy="1554480"/>
          </a:xfrm>
          <a:prstGeom prst="roundRect">
            <a:avLst>
              <a:gd name="adj" fmla="val 588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scope icon 2 circle"/>
          <p:cNvSpPr/>
          <p:nvPr/>
        </p:nvSpPr>
        <p:spPr>
          <a:xfrm>
            <a:off x="3429000" y="1353312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1" name="scope icon 2" descr="scope icon 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3300" y="1467612"/>
            <a:ext cx="228600" cy="22860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4023360" y="1353312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B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</a:t>
            </a:r>
            <a:endParaRPr lang="en-US" sz="1300" dirty="0"/>
          </a:p>
        </p:txBody>
      </p:sp>
      <p:sp>
        <p:nvSpPr>
          <p:cNvPr id="13" name="Text 8"/>
          <p:cNvSpPr txBox="1"/>
          <p:nvPr/>
        </p:nvSpPr>
        <p:spPr>
          <a:xfrm>
            <a:off x="3429000" y="196596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Command-line terminal with a numbered menu</a:t>
            </a:r>
            <a:endParaRPr lang="en-US" sz="1500" dirty="0"/>
          </a:p>
        </p:txBody>
      </p:sp>
      <p:sp>
        <p:nvSpPr>
          <p:cNvPr id="14" name="scope card 3"/>
          <p:cNvSpPr/>
          <p:nvPr/>
        </p:nvSpPr>
        <p:spPr>
          <a:xfrm>
            <a:off x="6035040" y="1188720"/>
            <a:ext cx="2651760" cy="1554480"/>
          </a:xfrm>
          <a:prstGeom prst="roundRect">
            <a:avLst>
              <a:gd name="adj" fmla="val 588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scope icon 3 circle"/>
          <p:cNvSpPr/>
          <p:nvPr/>
        </p:nvSpPr>
        <p:spPr>
          <a:xfrm>
            <a:off x="6217920" y="1353312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6" name="scope icon 3" descr="scope icon 3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2220" y="1467612"/>
            <a:ext cx="228600" cy="22860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6812280" y="1353312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B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300" dirty="0"/>
          </a:p>
        </p:txBody>
      </p:sp>
      <p:sp>
        <p:nvSpPr>
          <p:cNvPr id="18" name="Text 12"/>
          <p:cNvSpPr txBox="1"/>
          <p:nvPr/>
        </p:nvSpPr>
        <p:spPr>
          <a:xfrm>
            <a:off x="6217920" y="196596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number, name, date, status (P/A)</a:t>
            </a:r>
            <a:endParaRPr lang="en-US" sz="1500" dirty="0"/>
          </a:p>
        </p:txBody>
      </p:sp>
      <p:sp>
        <p:nvSpPr>
          <p:cNvPr id="19" name="scope card 4"/>
          <p:cNvSpPr/>
          <p:nvPr/>
        </p:nvSpPr>
        <p:spPr>
          <a:xfrm>
            <a:off x="457200" y="2880360"/>
            <a:ext cx="2651760" cy="1554480"/>
          </a:xfrm>
          <a:prstGeom prst="roundRect">
            <a:avLst>
              <a:gd name="adj" fmla="val 588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scope icon 4 circle"/>
          <p:cNvSpPr/>
          <p:nvPr/>
        </p:nvSpPr>
        <p:spPr>
          <a:xfrm>
            <a:off x="640080" y="3044952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1" name="scope icon 4" descr="scope icon 4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4380" y="3159252"/>
            <a:ext cx="228600" cy="228600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1234440" y="3044952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B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300" dirty="0"/>
          </a:p>
        </p:txBody>
      </p:sp>
      <p:sp>
        <p:nvSpPr>
          <p:cNvPr id="23" name="Text 16"/>
          <p:cNvSpPr txBox="1"/>
          <p:nvPr/>
        </p:nvSpPr>
        <p:spPr>
          <a:xfrm>
            <a:off x="640080" y="365760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list, date-wise view, percentage report</a:t>
            </a:r>
            <a:endParaRPr lang="en-US" sz="1500" dirty="0"/>
          </a:p>
        </p:txBody>
      </p:sp>
      <p:sp>
        <p:nvSpPr>
          <p:cNvPr id="24" name="scope card 5"/>
          <p:cNvSpPr/>
          <p:nvPr/>
        </p:nvSpPr>
        <p:spPr>
          <a:xfrm>
            <a:off x="3246120" y="2880360"/>
            <a:ext cx="2651760" cy="1554480"/>
          </a:xfrm>
          <a:prstGeom prst="roundRect">
            <a:avLst>
              <a:gd name="adj" fmla="val 588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5" name="scope icon 5 circle"/>
          <p:cNvSpPr/>
          <p:nvPr/>
        </p:nvSpPr>
        <p:spPr>
          <a:xfrm>
            <a:off x="3429000" y="3044952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6" name="scope icon 5" descr="scope icon 5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43300" y="3159252"/>
            <a:ext cx="228600" cy="228600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4023360" y="3044952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B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</a:t>
            </a:r>
            <a:endParaRPr lang="en-US" sz="1300" dirty="0"/>
          </a:p>
        </p:txBody>
      </p:sp>
      <p:sp>
        <p:nvSpPr>
          <p:cNvPr id="28" name="Text 20"/>
          <p:cNvSpPr txBox="1"/>
          <p:nvPr/>
        </p:nvSpPr>
        <p:spPr>
          <a:xfrm>
            <a:off x="3429000" y="365760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students.txt and attendance.txt</a:t>
            </a:r>
            <a:endParaRPr lang="en-US" sz="1500" dirty="0"/>
          </a:p>
        </p:txBody>
      </p:sp>
      <p:sp>
        <p:nvSpPr>
          <p:cNvPr id="29" name="scope card 6"/>
          <p:cNvSpPr/>
          <p:nvPr/>
        </p:nvSpPr>
        <p:spPr>
          <a:xfrm>
            <a:off x="6035040" y="2880360"/>
            <a:ext cx="2651760" cy="1554480"/>
          </a:xfrm>
          <a:prstGeom prst="roundRect">
            <a:avLst>
              <a:gd name="adj" fmla="val 588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0" name="scope icon 6 circle"/>
          <p:cNvSpPr/>
          <p:nvPr/>
        </p:nvSpPr>
        <p:spPr>
          <a:xfrm>
            <a:off x="6217920" y="3044952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31" name="scope icon 6" descr="scope icon 6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32220" y="3159252"/>
            <a:ext cx="228600" cy="228600"/>
          </a:xfrm>
          <a:prstGeom prst="rect">
            <a:avLst/>
          </a:prstGeom>
        </p:spPr>
      </p:pic>
      <p:sp>
        <p:nvSpPr>
          <p:cNvPr id="32" name="Text 23"/>
          <p:cNvSpPr txBox="1"/>
          <p:nvPr/>
        </p:nvSpPr>
        <p:spPr>
          <a:xfrm>
            <a:off x="6812280" y="3044952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B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</a:t>
            </a:r>
            <a:endParaRPr lang="en-US" sz="1300" dirty="0"/>
          </a:p>
        </p:txBody>
      </p:sp>
      <p:sp>
        <p:nvSpPr>
          <p:cNvPr id="33" name="Text 24"/>
          <p:cNvSpPr txBox="1"/>
          <p:nvPr/>
        </p:nvSpPr>
        <p:spPr>
          <a:xfrm>
            <a:off x="6217920" y="365760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or faculty demonstrating shell scripting</a:t>
            </a:r>
            <a:endParaRPr lang="en-US" sz="1500" dirty="0"/>
          </a:p>
        </p:txBody>
      </p:sp>
      <p:sp>
        <p:nvSpPr>
          <p:cNvPr id="34" name="Text 25"/>
          <p:cNvSpPr txBox="1"/>
          <p:nvPr/>
        </p:nvSpPr>
        <p:spPr>
          <a:xfrm>
            <a:off x="457200" y="4572000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C7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1 manages one class using plain text files. No database or graphical interface.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757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2F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 Existing System</a:t>
            </a:r>
            <a:endParaRPr lang="en-US" sz="3000" dirty="0"/>
          </a:p>
        </p:txBody>
      </p:sp>
      <p:sp>
        <p:nvSpPr>
          <p:cNvPr id="4" name="Manual Process card"/>
          <p:cNvSpPr/>
          <p:nvPr/>
        </p:nvSpPr>
        <p:spPr>
          <a:xfrm>
            <a:off x="457200" y="1143000"/>
            <a:ext cx="3566160" cy="3520440"/>
          </a:xfrm>
          <a:prstGeom prst="roundRect">
            <a:avLst>
              <a:gd name="adj" fmla="val 259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Manual Process icon circle"/>
          <p:cNvSpPr/>
          <p:nvPr/>
        </p:nvSpPr>
        <p:spPr>
          <a:xfrm>
            <a:off x="640080" y="1307592"/>
            <a:ext cx="457200" cy="45720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6" name="Manual Process icon" descr="Manual Process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4380" y="1421892"/>
            <a:ext cx="228600" cy="22860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234440" y="1307592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Manual Process</a:t>
            </a:r>
            <a:endParaRPr lang="en-US" sz="1800" dirty="0"/>
          </a:p>
        </p:txBody>
      </p:sp>
      <p:sp>
        <p:nvSpPr>
          <p:cNvPr id="8" name="Text 4"/>
          <p:cNvSpPr txBox="1"/>
          <p:nvPr/>
        </p:nvSpPr>
        <p:spPr>
          <a:xfrm>
            <a:off x="731520" y="1920240"/>
            <a:ext cx="30175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is written in a paper register or entered in a spreadsheet. At month end the present days are counted and the percentage is worked out separately for every student.</a:t>
            </a:r>
            <a:endParaRPr lang="en-US" sz="1600" dirty="0"/>
          </a:p>
        </p:txBody>
      </p:sp>
      <p:sp>
        <p:nvSpPr>
          <p:cNvPr id="9" name="limitation card 1"/>
          <p:cNvSpPr/>
          <p:nvPr/>
        </p:nvSpPr>
        <p:spPr>
          <a:xfrm>
            <a:off x="4297680" y="1143000"/>
            <a:ext cx="2148840" cy="1691640"/>
          </a:xfrm>
          <a:prstGeom prst="roundRect">
            <a:avLst>
              <a:gd name="adj" fmla="val 540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limitation icon 1 circle"/>
          <p:cNvSpPr/>
          <p:nvPr/>
        </p:nvSpPr>
        <p:spPr>
          <a:xfrm>
            <a:off x="4480560" y="1325880"/>
            <a:ext cx="457200" cy="4572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1" name="limitation icon 1" descr="limitation icon 1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4860" y="1440180"/>
            <a:ext cx="228600" cy="22860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4480560" y="1920240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counting takes extra time</a:t>
            </a:r>
            <a:endParaRPr lang="en-US" sz="1400" dirty="0"/>
          </a:p>
        </p:txBody>
      </p:sp>
      <p:sp>
        <p:nvSpPr>
          <p:cNvPr id="13" name="limitation card 2"/>
          <p:cNvSpPr/>
          <p:nvPr/>
        </p:nvSpPr>
        <p:spPr>
          <a:xfrm>
            <a:off x="6537960" y="1143000"/>
            <a:ext cx="2148840" cy="1691640"/>
          </a:xfrm>
          <a:prstGeom prst="roundRect">
            <a:avLst>
              <a:gd name="adj" fmla="val 540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limitation icon 2 circle"/>
          <p:cNvSpPr/>
          <p:nvPr/>
        </p:nvSpPr>
        <p:spPr>
          <a:xfrm>
            <a:off x="6720840" y="1325880"/>
            <a:ext cx="457200" cy="4572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5" name="limitation icon 2" descr="limitation icon 2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5140" y="1440180"/>
            <a:ext cx="228600" cy="228600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6720840" y="1920240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Arithmetic mistakes are possible</a:t>
            </a:r>
            <a:endParaRPr lang="en-US" sz="1400" dirty="0"/>
          </a:p>
        </p:txBody>
      </p:sp>
      <p:sp>
        <p:nvSpPr>
          <p:cNvPr id="17" name="limitation card 3"/>
          <p:cNvSpPr/>
          <p:nvPr/>
        </p:nvSpPr>
        <p:spPr>
          <a:xfrm>
            <a:off x="4297680" y="2926080"/>
            <a:ext cx="2148840" cy="1691640"/>
          </a:xfrm>
          <a:prstGeom prst="roundRect">
            <a:avLst>
              <a:gd name="adj" fmla="val 540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8" name="limitation icon 3 circle"/>
          <p:cNvSpPr/>
          <p:nvPr/>
        </p:nvSpPr>
        <p:spPr>
          <a:xfrm>
            <a:off x="4480560" y="3108960"/>
            <a:ext cx="457200" cy="4572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9" name="limitation icon 3" descr="limitation icon 3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94860" y="3223260"/>
            <a:ext cx="228600" cy="228600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4480560" y="3703320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Shortage is detected late</a:t>
            </a:r>
            <a:endParaRPr lang="en-US" sz="1400" dirty="0"/>
          </a:p>
        </p:txBody>
      </p:sp>
      <p:sp>
        <p:nvSpPr>
          <p:cNvPr id="21" name="limitation card 4"/>
          <p:cNvSpPr/>
          <p:nvPr/>
        </p:nvSpPr>
        <p:spPr>
          <a:xfrm>
            <a:off x="6537960" y="2926080"/>
            <a:ext cx="2148840" cy="1691640"/>
          </a:xfrm>
          <a:prstGeom prst="roundRect">
            <a:avLst>
              <a:gd name="adj" fmla="val 540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2" name="limitation icon 4 circle"/>
          <p:cNvSpPr/>
          <p:nvPr/>
        </p:nvSpPr>
        <p:spPr>
          <a:xfrm>
            <a:off x="6720840" y="3108960"/>
            <a:ext cx="457200" cy="4572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23" name="limitation icon 4" descr="limitation icon 4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35140" y="3223260"/>
            <a:ext cx="228600" cy="228600"/>
          </a:xfrm>
          <a:prstGeom prst="rect">
            <a:avLst/>
          </a:prstGeom>
        </p:spPr>
      </p:pic>
      <p:sp>
        <p:nvSpPr>
          <p:cNvPr id="24" name="Text 16"/>
          <p:cNvSpPr txBox="1"/>
          <p:nvPr/>
        </p:nvSpPr>
        <p:spPr>
          <a:xfrm>
            <a:off x="6720840" y="3703320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registers get lost and are hard to search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757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2F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6. Proposed System</a:t>
            </a:r>
            <a:endParaRPr lang="en-US" sz="3000" dirty="0"/>
          </a:p>
        </p:txBody>
      </p:sp>
      <p:sp>
        <p:nvSpPr>
          <p:cNvPr id="4" name="workflow step card 1"/>
          <p:cNvSpPr/>
          <p:nvPr/>
        </p:nvSpPr>
        <p:spPr>
          <a:xfrm>
            <a:off x="457200" y="1188720"/>
            <a:ext cx="2651760" cy="1051560"/>
          </a:xfrm>
          <a:prstGeom prst="roundRect">
            <a:avLst>
              <a:gd name="adj" fmla="val 869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number badge 1"/>
          <p:cNvSpPr/>
          <p:nvPr/>
        </p:nvSpPr>
        <p:spPr>
          <a:xfrm>
            <a:off x="621792" y="1508760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21792" y="15087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1188720" y="1280160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the Bash script</a:t>
            </a:r>
            <a:endParaRPr lang="en-US" sz="1400" dirty="0"/>
          </a:p>
        </p:txBody>
      </p:sp>
      <p:sp>
        <p:nvSpPr>
          <p:cNvPr id="8" name="workflow step card 2"/>
          <p:cNvSpPr/>
          <p:nvPr/>
        </p:nvSpPr>
        <p:spPr>
          <a:xfrm>
            <a:off x="3246120" y="1188720"/>
            <a:ext cx="2651760" cy="1051560"/>
          </a:xfrm>
          <a:prstGeom prst="roundRect">
            <a:avLst>
              <a:gd name="adj" fmla="val 869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number badge 2"/>
          <p:cNvSpPr/>
          <p:nvPr/>
        </p:nvSpPr>
        <p:spPr>
          <a:xfrm>
            <a:off x="3410712" y="1508760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410712" y="15087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3977640" y="1280160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data files if missing</a:t>
            </a:r>
            <a:endParaRPr lang="en-US" sz="1400" dirty="0"/>
          </a:p>
        </p:txBody>
      </p:sp>
      <p:sp>
        <p:nvSpPr>
          <p:cNvPr id="12" name="workflow step card 3"/>
          <p:cNvSpPr/>
          <p:nvPr/>
        </p:nvSpPr>
        <p:spPr>
          <a:xfrm>
            <a:off x="6035040" y="1188720"/>
            <a:ext cx="2651760" cy="1051560"/>
          </a:xfrm>
          <a:prstGeom prst="roundRect">
            <a:avLst>
              <a:gd name="adj" fmla="val 869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number badge 3"/>
          <p:cNvSpPr/>
          <p:nvPr/>
        </p:nvSpPr>
        <p:spPr>
          <a:xfrm>
            <a:off x="6199632" y="1508760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199632" y="15087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6766560" y="1280160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menu, read choice</a:t>
            </a:r>
            <a:endParaRPr lang="en-US" sz="1400" dirty="0"/>
          </a:p>
        </p:txBody>
      </p:sp>
      <p:sp>
        <p:nvSpPr>
          <p:cNvPr id="16" name="workflow step card 4"/>
          <p:cNvSpPr/>
          <p:nvPr/>
        </p:nvSpPr>
        <p:spPr>
          <a:xfrm>
            <a:off x="457200" y="2377440"/>
            <a:ext cx="2651760" cy="1051560"/>
          </a:xfrm>
          <a:prstGeom prst="roundRect">
            <a:avLst>
              <a:gd name="adj" fmla="val 869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number badge 4"/>
          <p:cNvSpPr/>
          <p:nvPr/>
        </p:nvSpPr>
        <p:spPr>
          <a:xfrm>
            <a:off x="621792" y="2697480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21792" y="26974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1188720" y="2468880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students to students.txt</a:t>
            </a:r>
            <a:endParaRPr lang="en-US" sz="1400" dirty="0"/>
          </a:p>
        </p:txBody>
      </p:sp>
      <p:sp>
        <p:nvSpPr>
          <p:cNvPr id="20" name="workflow step card 5"/>
          <p:cNvSpPr/>
          <p:nvPr/>
        </p:nvSpPr>
        <p:spPr>
          <a:xfrm>
            <a:off x="3246120" y="2377440"/>
            <a:ext cx="2651760" cy="1051560"/>
          </a:xfrm>
          <a:prstGeom prst="roundRect">
            <a:avLst>
              <a:gd name="adj" fmla="val 869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1" name="number badge 5"/>
          <p:cNvSpPr/>
          <p:nvPr/>
        </p:nvSpPr>
        <p:spPr>
          <a:xfrm>
            <a:off x="3410712" y="2697480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3410712" y="26974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3977640" y="2468880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 attendance as P or A</a:t>
            </a:r>
            <a:endParaRPr lang="en-US" sz="1400" dirty="0"/>
          </a:p>
        </p:txBody>
      </p:sp>
      <p:sp>
        <p:nvSpPr>
          <p:cNvPr id="24" name="workflow step card 6"/>
          <p:cNvSpPr/>
          <p:nvPr/>
        </p:nvSpPr>
        <p:spPr>
          <a:xfrm>
            <a:off x="6035040" y="2377440"/>
            <a:ext cx="2651760" cy="1051560"/>
          </a:xfrm>
          <a:prstGeom prst="roundRect">
            <a:avLst>
              <a:gd name="adj" fmla="val 869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5" name="number badge 6"/>
          <p:cNvSpPr/>
          <p:nvPr/>
        </p:nvSpPr>
        <p:spPr>
          <a:xfrm>
            <a:off x="6199632" y="2697480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6199632" y="26974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500" dirty="0"/>
          </a:p>
        </p:txBody>
      </p:sp>
      <p:sp>
        <p:nvSpPr>
          <p:cNvPr id="27" name="Text 24"/>
          <p:cNvSpPr txBox="1"/>
          <p:nvPr/>
        </p:nvSpPr>
        <p:spPr>
          <a:xfrm>
            <a:off x="6766560" y="2468880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entries in attendance.txt</a:t>
            </a:r>
            <a:endParaRPr lang="en-US" sz="1400" dirty="0"/>
          </a:p>
        </p:txBody>
      </p:sp>
      <p:sp>
        <p:nvSpPr>
          <p:cNvPr id="28" name="workflow step card 7"/>
          <p:cNvSpPr/>
          <p:nvPr/>
        </p:nvSpPr>
        <p:spPr>
          <a:xfrm>
            <a:off x="457200" y="3566160"/>
            <a:ext cx="2651760" cy="1051560"/>
          </a:xfrm>
          <a:prstGeom prst="roundRect">
            <a:avLst>
              <a:gd name="adj" fmla="val 869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9" name="number badge 7"/>
          <p:cNvSpPr/>
          <p:nvPr/>
        </p:nvSpPr>
        <p:spPr>
          <a:xfrm>
            <a:off x="621792" y="3886200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621792" y="38862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500" dirty="0"/>
          </a:p>
        </p:txBody>
      </p:sp>
      <p:sp>
        <p:nvSpPr>
          <p:cNvPr id="31" name="Text 28"/>
          <p:cNvSpPr txBox="1"/>
          <p:nvPr/>
        </p:nvSpPr>
        <p:spPr>
          <a:xfrm>
            <a:off x="1188720" y="3657600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attendance of any date</a:t>
            </a:r>
            <a:endParaRPr lang="en-US" sz="1400" dirty="0"/>
          </a:p>
        </p:txBody>
      </p:sp>
      <p:sp>
        <p:nvSpPr>
          <p:cNvPr id="32" name="workflow step card 8"/>
          <p:cNvSpPr/>
          <p:nvPr/>
        </p:nvSpPr>
        <p:spPr>
          <a:xfrm>
            <a:off x="3246120" y="3566160"/>
            <a:ext cx="2651760" cy="1051560"/>
          </a:xfrm>
          <a:prstGeom prst="roundRect">
            <a:avLst>
              <a:gd name="adj" fmla="val 869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3" name="number badge 8"/>
          <p:cNvSpPr/>
          <p:nvPr/>
        </p:nvSpPr>
        <p:spPr>
          <a:xfrm>
            <a:off x="3410712" y="3886200"/>
            <a:ext cx="411480" cy="4114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3410712" y="38862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500" dirty="0"/>
          </a:p>
        </p:txBody>
      </p:sp>
      <p:sp>
        <p:nvSpPr>
          <p:cNvPr id="35" name="Text 32"/>
          <p:cNvSpPr txBox="1"/>
          <p:nvPr/>
        </p:nvSpPr>
        <p:spPr>
          <a:xfrm>
            <a:off x="3977640" y="3657600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report with % and status</a:t>
            </a:r>
            <a:endParaRPr lang="en-US" sz="1400" dirty="0"/>
          </a:p>
        </p:txBody>
      </p:sp>
      <p:sp>
        <p:nvSpPr>
          <p:cNvPr id="36" name="workflow step card 9"/>
          <p:cNvSpPr/>
          <p:nvPr/>
        </p:nvSpPr>
        <p:spPr>
          <a:xfrm>
            <a:off x="6035040" y="3566160"/>
            <a:ext cx="2651760" cy="1051560"/>
          </a:xfrm>
          <a:prstGeom prst="roundRect">
            <a:avLst>
              <a:gd name="adj" fmla="val 869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7" name="number badge 9"/>
          <p:cNvSpPr/>
          <p:nvPr/>
        </p:nvSpPr>
        <p:spPr>
          <a:xfrm>
            <a:off x="6199632" y="3886200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6199632" y="38862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1500" dirty="0"/>
          </a:p>
        </p:txBody>
      </p:sp>
      <p:sp>
        <p:nvSpPr>
          <p:cNvPr id="39" name="Text 36"/>
          <p:cNvSpPr txBox="1"/>
          <p:nvPr/>
        </p:nvSpPr>
        <p:spPr>
          <a:xfrm>
            <a:off x="6766560" y="3657600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until Exit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757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2F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7. Requirements</a:t>
            </a:r>
            <a:endParaRPr lang="en-US" sz="3000" dirty="0"/>
          </a:p>
        </p:txBody>
      </p:sp>
      <p:sp>
        <p:nvSpPr>
          <p:cNvPr id="4" name="7.1 Hardware card"/>
          <p:cNvSpPr/>
          <p:nvPr/>
        </p:nvSpPr>
        <p:spPr>
          <a:xfrm>
            <a:off x="457200" y="1143000"/>
            <a:ext cx="3977640" cy="2926080"/>
          </a:xfrm>
          <a:prstGeom prst="roundRect">
            <a:avLst>
              <a:gd name="adj" fmla="val 312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7.1 Hardware icon circle"/>
          <p:cNvSpPr/>
          <p:nvPr/>
        </p:nvSpPr>
        <p:spPr>
          <a:xfrm>
            <a:off x="640080" y="1307592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7.1 Hardware icon" descr="7.1 Hardware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4380" y="1421892"/>
            <a:ext cx="228600" cy="22860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234440" y="1307592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7.1 Hardware</a:t>
            </a:r>
            <a:endParaRPr lang="en-US" sz="1800" dirty="0"/>
          </a:p>
        </p:txBody>
      </p:sp>
      <p:sp>
        <p:nvSpPr>
          <p:cNvPr id="8" name="Text 4"/>
          <p:cNvSpPr txBox="1"/>
          <p:nvPr/>
        </p:nvSpPr>
        <p:spPr>
          <a:xfrm>
            <a:off x="731520" y="2011680"/>
            <a:ext cx="3474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or laptop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4 GB RAM recommended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Keyboard and display</a:t>
            </a:r>
            <a:endParaRPr lang="en-US" sz="1600" dirty="0"/>
          </a:p>
        </p:txBody>
      </p:sp>
      <p:sp>
        <p:nvSpPr>
          <p:cNvPr id="9" name="7.2 Software card"/>
          <p:cNvSpPr/>
          <p:nvPr/>
        </p:nvSpPr>
        <p:spPr>
          <a:xfrm>
            <a:off x="4709160" y="1143000"/>
            <a:ext cx="3977640" cy="2926080"/>
          </a:xfrm>
          <a:prstGeom prst="roundRect">
            <a:avLst>
              <a:gd name="adj" fmla="val 312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7.2 Software icon circle"/>
          <p:cNvSpPr/>
          <p:nvPr/>
        </p:nvSpPr>
        <p:spPr>
          <a:xfrm>
            <a:off x="4892040" y="1307592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1" name="7.2 Software icon" descr="7.2 Software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6340" y="1421892"/>
            <a:ext cx="228600" cy="22860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5486400" y="1307592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7.2 Software</a:t>
            </a:r>
            <a:endParaRPr lang="en-US" sz="1800" dirty="0"/>
          </a:p>
        </p:txBody>
      </p:sp>
      <p:sp>
        <p:nvSpPr>
          <p:cNvPr id="13" name="Text 8"/>
          <p:cNvSpPr txBox="1"/>
          <p:nvPr/>
        </p:nvSpPr>
        <p:spPr>
          <a:xfrm>
            <a:off x="4983480" y="2011680"/>
            <a:ext cx="3474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Ubuntu Linux or Ubuntu on WSL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Bash shell and a terminal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editor such as nano or vim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Utilities: grep, cut, printf, date, touch</a:t>
            </a:r>
            <a:endParaRPr lang="en-US" sz="1600" dirty="0"/>
          </a:p>
        </p:txBody>
      </p:sp>
      <p:sp>
        <p:nvSpPr>
          <p:cNvPr id="14" name="requirements note"/>
          <p:cNvSpPr/>
          <p:nvPr/>
        </p:nvSpPr>
        <p:spPr>
          <a:xfrm>
            <a:off x="457200" y="4251960"/>
            <a:ext cx="8229600" cy="457200"/>
          </a:xfrm>
          <a:prstGeom prst="roundRect">
            <a:avLst>
              <a:gd name="adj" fmla="val 20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5" name="Text 10"/>
          <p:cNvSpPr txBox="1"/>
          <p:nvPr/>
        </p:nvSpPr>
        <p:spPr>
          <a:xfrm>
            <a:off x="457200" y="42519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database or graphical software is required.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757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2F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8. System Design</a:t>
            </a:r>
            <a:endParaRPr lang="en-US" sz="3000" dirty="0"/>
          </a:p>
        </p:txBody>
      </p:sp>
      <p:sp>
        <p:nvSpPr>
          <p:cNvPr id="4" name="8.1 Input card"/>
          <p:cNvSpPr/>
          <p:nvPr/>
        </p:nvSpPr>
        <p:spPr>
          <a:xfrm>
            <a:off x="457200" y="1143000"/>
            <a:ext cx="2651760" cy="2788920"/>
          </a:xfrm>
          <a:prstGeom prst="roundRect">
            <a:avLst>
              <a:gd name="adj" fmla="val 344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8.1 Input icon circle"/>
          <p:cNvSpPr/>
          <p:nvPr/>
        </p:nvSpPr>
        <p:spPr>
          <a:xfrm>
            <a:off x="640080" y="1307592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8.1 Input icon" descr="8.1 Input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4380" y="1421892"/>
            <a:ext cx="228600" cy="22860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234440" y="1307592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8.1 Input</a:t>
            </a:r>
            <a:endParaRPr lang="en-US" sz="1800" dirty="0"/>
          </a:p>
        </p:txBody>
      </p:sp>
      <p:sp>
        <p:nvSpPr>
          <p:cNvPr id="8" name="Text 4"/>
          <p:cNvSpPr txBox="1"/>
          <p:nvPr/>
        </p:nvSpPr>
        <p:spPr>
          <a:xfrm>
            <a:off x="640080" y="1828800"/>
            <a:ext cx="233172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 choice (1-6)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number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name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(YYYY-MM-DD)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Status: P or A</a:t>
            </a:r>
            <a:endParaRPr lang="en-US" sz="1400" dirty="0"/>
          </a:p>
        </p:txBody>
      </p:sp>
      <p:sp>
        <p:nvSpPr>
          <p:cNvPr id="9" name="8.2 Processing card"/>
          <p:cNvSpPr/>
          <p:nvPr/>
        </p:nvSpPr>
        <p:spPr>
          <a:xfrm>
            <a:off x="3246120" y="1143000"/>
            <a:ext cx="2651760" cy="2788920"/>
          </a:xfrm>
          <a:prstGeom prst="roundRect">
            <a:avLst>
              <a:gd name="adj" fmla="val 344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8.2 Processing icon circle"/>
          <p:cNvSpPr/>
          <p:nvPr/>
        </p:nvSpPr>
        <p:spPr>
          <a:xfrm>
            <a:off x="3429000" y="1307592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1" name="8.2 Processing icon" descr="8.2 Processing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3300" y="1421892"/>
            <a:ext cx="228600" cy="22860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4023360" y="1307592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8.2 Processing</a:t>
            </a:r>
            <a:endParaRPr lang="en-US" sz="1800" dirty="0"/>
          </a:p>
        </p:txBody>
      </p:sp>
      <p:sp>
        <p:nvSpPr>
          <p:cNvPr id="13" name="Text 8"/>
          <p:cNvSpPr txBox="1"/>
          <p:nvPr/>
        </p:nvSpPr>
        <p:spPr>
          <a:xfrm>
            <a:off x="3429000" y="1828800"/>
            <a:ext cx="233172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roll, date, status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duplicate entries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 records to files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days with grep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Percentage = P × 100 / T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with 75%</a:t>
            </a:r>
            <a:endParaRPr lang="en-US" sz="1400" dirty="0"/>
          </a:p>
        </p:txBody>
      </p:sp>
      <p:sp>
        <p:nvSpPr>
          <p:cNvPr id="14" name="8.3 Output card"/>
          <p:cNvSpPr/>
          <p:nvPr/>
        </p:nvSpPr>
        <p:spPr>
          <a:xfrm>
            <a:off x="6035040" y="1143000"/>
            <a:ext cx="2651760" cy="2788920"/>
          </a:xfrm>
          <a:prstGeom prst="roundRect">
            <a:avLst>
              <a:gd name="adj" fmla="val 344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8.3 Output icon circle"/>
          <p:cNvSpPr/>
          <p:nvPr/>
        </p:nvSpPr>
        <p:spPr>
          <a:xfrm>
            <a:off x="6217920" y="1307592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6" name="8.3 Output icon" descr="8.3 Output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2220" y="1421892"/>
            <a:ext cx="228600" cy="22860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6812280" y="1307592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8.3 Output</a:t>
            </a:r>
            <a:endParaRPr lang="en-US" sz="1800" dirty="0"/>
          </a:p>
        </p:txBody>
      </p:sp>
      <p:sp>
        <p:nvSpPr>
          <p:cNvPr id="18" name="Text 12"/>
          <p:cNvSpPr txBox="1"/>
          <p:nvPr/>
        </p:nvSpPr>
        <p:spPr>
          <a:xfrm>
            <a:off x="6217920" y="1828800"/>
            <a:ext cx="233172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list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Date-wise attendance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Percentage report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ELIGIBLE / SHORTAGE</a:t>
            </a:r>
            <a:endParaRPr lang="en-US" sz="1400" dirty="0"/>
          </a:p>
        </p:txBody>
      </p:sp>
      <p:sp>
        <p:nvSpPr>
          <p:cNvPr id="19" name="criteria chip 1"/>
          <p:cNvSpPr/>
          <p:nvPr/>
        </p:nvSpPr>
        <p:spPr>
          <a:xfrm>
            <a:off x="457200" y="4114800"/>
            <a:ext cx="1371600" cy="548640"/>
          </a:xfrm>
          <a:prstGeom prst="roundRect">
            <a:avLst>
              <a:gd name="adj" fmla="val 16667"/>
            </a:avLst>
          </a:prstGeom>
          <a:solidFill>
            <a:srgbClr val="0E2F2E"/>
          </a:solidFill>
          <a:ln w="12700">
            <a:solidFill>
              <a:srgbClr val="0E2F2E"/>
            </a:solidFill>
            <a:prstDash val="solid"/>
          </a:ln>
        </p:spPr>
      </p:sp>
      <p:sp>
        <p:nvSpPr>
          <p:cNvPr id="20" name="Text 14"/>
          <p:cNvSpPr txBox="1"/>
          <p:nvPr/>
        </p:nvSpPr>
        <p:spPr>
          <a:xfrm>
            <a:off x="457200" y="411480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8.4 Criteria</a:t>
            </a:r>
            <a:endParaRPr lang="en-US" sz="1400" dirty="0"/>
          </a:p>
        </p:txBody>
      </p:sp>
      <p:sp>
        <p:nvSpPr>
          <p:cNvPr id="21" name="criteria chip 2"/>
          <p:cNvSpPr/>
          <p:nvPr/>
        </p:nvSpPr>
        <p:spPr>
          <a:xfrm>
            <a:off x="1920240" y="4114800"/>
            <a:ext cx="2331720" cy="548640"/>
          </a:xfrm>
          <a:prstGeom prst="roundRect">
            <a:avLst>
              <a:gd name="adj" fmla="val 16667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2" name="Text 16"/>
          <p:cNvSpPr txBox="1"/>
          <p:nvPr/>
        </p:nvSpPr>
        <p:spPr>
          <a:xfrm>
            <a:off x="1920240" y="411480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75% or more  →  ELIGIBLE</a:t>
            </a:r>
            <a:endParaRPr lang="en-US" sz="1300" dirty="0"/>
          </a:p>
        </p:txBody>
      </p:sp>
      <p:sp>
        <p:nvSpPr>
          <p:cNvPr id="23" name="criteria chip 3"/>
          <p:cNvSpPr/>
          <p:nvPr/>
        </p:nvSpPr>
        <p:spPr>
          <a:xfrm>
            <a:off x="4343400" y="4114800"/>
            <a:ext cx="2240280" cy="548640"/>
          </a:xfrm>
          <a:prstGeom prst="roundRect">
            <a:avLst>
              <a:gd name="adj" fmla="val 16667"/>
            </a:avLst>
          </a:prstGeom>
          <a:solidFill>
            <a:srgbClr val="D9534F"/>
          </a:solidFill>
          <a:ln w="12700">
            <a:solidFill>
              <a:srgbClr val="D9534F"/>
            </a:solidFill>
            <a:prstDash val="solid"/>
          </a:ln>
        </p:spPr>
      </p:sp>
      <p:sp>
        <p:nvSpPr>
          <p:cNvPr id="24" name="Text 18"/>
          <p:cNvSpPr txBox="1"/>
          <p:nvPr/>
        </p:nvSpPr>
        <p:spPr>
          <a:xfrm>
            <a:off x="4343400" y="411480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 75%  →  SHORTAGE</a:t>
            </a:r>
            <a:endParaRPr lang="en-US" sz="1300" dirty="0"/>
          </a:p>
        </p:txBody>
      </p:sp>
      <p:sp>
        <p:nvSpPr>
          <p:cNvPr id="25" name="criteria chip 4"/>
          <p:cNvSpPr/>
          <p:nvPr/>
        </p:nvSpPr>
        <p:spPr>
          <a:xfrm>
            <a:off x="6675120" y="4114800"/>
            <a:ext cx="2011680" cy="548640"/>
          </a:xfrm>
          <a:prstGeom prst="roundRect">
            <a:avLst>
              <a:gd name="adj" fmla="val 16667"/>
            </a:avLst>
          </a:prstGeom>
          <a:solidFill>
            <a:srgbClr val="5C7573"/>
          </a:solidFill>
          <a:ln w="12700">
            <a:solidFill>
              <a:srgbClr val="5C7573"/>
            </a:solidFill>
            <a:prstDash val="solid"/>
          </a:ln>
        </p:spPr>
      </p:sp>
      <p:sp>
        <p:nvSpPr>
          <p:cNvPr id="26" name="Text 20"/>
          <p:cNvSpPr txBox="1"/>
          <p:nvPr/>
        </p:nvSpPr>
        <p:spPr>
          <a:xfrm>
            <a:off x="6675120" y="411480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records  →  NO DATA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757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2F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8. System Design: Process Flow</a:t>
            </a:r>
            <a:endParaRPr lang="en-US" sz="3000" dirty="0"/>
          </a:p>
        </p:txBody>
      </p:sp>
      <p:pic>
        <p:nvPicPr>
          <p:cNvPr id="4" name="process flow diagram" descr="Flowchart of the Student Attendance Management progra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5029200" cy="3328147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5760720" y="11430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8.5 Data files</a:t>
            </a:r>
            <a:endParaRPr lang="en-US" sz="2000" dirty="0"/>
          </a:p>
        </p:txBody>
      </p:sp>
      <p:sp>
        <p:nvSpPr>
          <p:cNvPr id="6" name="students file card"/>
          <p:cNvSpPr/>
          <p:nvPr/>
        </p:nvSpPr>
        <p:spPr>
          <a:xfrm>
            <a:off x="5760720" y="1600200"/>
            <a:ext cx="2926080" cy="1097280"/>
          </a:xfrm>
          <a:prstGeom prst="roundRect">
            <a:avLst>
              <a:gd name="adj" fmla="val 8333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5943600" y="169164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students.txt</a:t>
            </a:r>
            <a:endParaRPr lang="en-US" sz="1400" dirty="0"/>
          </a:p>
        </p:txBody>
      </p:sp>
      <p:sp>
        <p:nvSpPr>
          <p:cNvPr id="8" name="Text 4"/>
          <p:cNvSpPr txBox="1"/>
          <p:nvPr/>
        </p:nvSpPr>
        <p:spPr>
          <a:xfrm>
            <a:off x="5943600" y="205740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101,Rahul</a:t>
            </a:r>
            <a:endParaRPr lang="en-US" sz="1600" dirty="0"/>
          </a:p>
        </p:txBody>
      </p:sp>
      <p:sp>
        <p:nvSpPr>
          <p:cNvPr id="9" name="Text 5"/>
          <p:cNvSpPr txBox="1"/>
          <p:nvPr/>
        </p:nvSpPr>
        <p:spPr>
          <a:xfrm>
            <a:off x="5943600" y="235915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FB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, name</a:t>
            </a:r>
            <a:endParaRPr lang="en-US" sz="1200" dirty="0"/>
          </a:p>
        </p:txBody>
      </p:sp>
      <p:sp>
        <p:nvSpPr>
          <p:cNvPr id="10" name="attendance file card"/>
          <p:cNvSpPr/>
          <p:nvPr/>
        </p:nvSpPr>
        <p:spPr>
          <a:xfrm>
            <a:off x="5760720" y="2834640"/>
            <a:ext cx="2926080" cy="1097280"/>
          </a:xfrm>
          <a:prstGeom prst="roundRect">
            <a:avLst>
              <a:gd name="adj" fmla="val 8333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5943600" y="292608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attendance.txt</a:t>
            </a:r>
            <a:endParaRPr lang="en-US" sz="1400" dirty="0"/>
          </a:p>
        </p:txBody>
      </p:sp>
      <p:sp>
        <p:nvSpPr>
          <p:cNvPr id="12" name="Text 8"/>
          <p:cNvSpPr txBox="1"/>
          <p:nvPr/>
        </p:nvSpPr>
        <p:spPr>
          <a:xfrm>
            <a:off x="5943600" y="329184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2026-10-05,101,P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5943600" y="359359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FB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, roll , P or A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757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2F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9. Algorithm</a:t>
            </a:r>
            <a:endParaRPr lang="en-US" sz="3000" dirty="0"/>
          </a:p>
        </p:txBody>
      </p:sp>
      <p:sp>
        <p:nvSpPr>
          <p:cNvPr id="4" name="number badge 1"/>
          <p:cNvSpPr/>
          <p:nvPr/>
        </p:nvSpPr>
        <p:spPr>
          <a:xfrm>
            <a:off x="457200" y="1179576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457200" y="11795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960120" y="1143000"/>
            <a:ext cx="3611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</a:t>
            </a:r>
            <a:endParaRPr lang="en-US" sz="1400" dirty="0"/>
          </a:p>
        </p:txBody>
      </p:sp>
      <p:sp>
        <p:nvSpPr>
          <p:cNvPr id="7" name="number badge 2"/>
          <p:cNvSpPr/>
          <p:nvPr/>
        </p:nvSpPr>
        <p:spPr>
          <a:xfrm>
            <a:off x="457200" y="1764792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57200" y="17647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960120" y="1728216"/>
            <a:ext cx="3611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students.txt and attendance.txt if missing</a:t>
            </a:r>
            <a:endParaRPr lang="en-US" sz="1400" dirty="0"/>
          </a:p>
        </p:txBody>
      </p:sp>
      <p:sp>
        <p:nvSpPr>
          <p:cNvPr id="10" name="number badge 3"/>
          <p:cNvSpPr/>
          <p:nvPr/>
        </p:nvSpPr>
        <p:spPr>
          <a:xfrm>
            <a:off x="457200" y="2350008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57200" y="23500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960120" y="2313432"/>
            <a:ext cx="3611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menu and read choice</a:t>
            </a:r>
            <a:endParaRPr lang="en-US" sz="1400" dirty="0"/>
          </a:p>
        </p:txBody>
      </p:sp>
      <p:sp>
        <p:nvSpPr>
          <p:cNvPr id="13" name="number badge 4"/>
          <p:cNvSpPr/>
          <p:nvPr/>
        </p:nvSpPr>
        <p:spPr>
          <a:xfrm>
            <a:off x="457200" y="2935224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57200" y="29352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960120" y="2898648"/>
            <a:ext cx="3611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Choice 1: validate roll, check duplicate, save student</a:t>
            </a:r>
            <a:endParaRPr lang="en-US" sz="1400" dirty="0"/>
          </a:p>
        </p:txBody>
      </p:sp>
      <p:sp>
        <p:nvSpPr>
          <p:cNvPr id="16" name="number badge 5"/>
          <p:cNvSpPr/>
          <p:nvPr/>
        </p:nvSpPr>
        <p:spPr>
          <a:xfrm>
            <a:off x="457200" y="352044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457200" y="3520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960120" y="3483864"/>
            <a:ext cx="3611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Choice 2: display all students</a:t>
            </a:r>
            <a:endParaRPr lang="en-US" sz="1400" dirty="0"/>
          </a:p>
        </p:txBody>
      </p:sp>
      <p:sp>
        <p:nvSpPr>
          <p:cNvPr id="19" name="number badge 6"/>
          <p:cNvSpPr/>
          <p:nvPr/>
        </p:nvSpPr>
        <p:spPr>
          <a:xfrm>
            <a:off x="457200" y="4105656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57200" y="41056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500" dirty="0"/>
          </a:p>
        </p:txBody>
      </p:sp>
      <p:sp>
        <p:nvSpPr>
          <p:cNvPr id="21" name="Text 18"/>
          <p:cNvSpPr txBox="1"/>
          <p:nvPr/>
        </p:nvSpPr>
        <p:spPr>
          <a:xfrm>
            <a:off x="960120" y="4069080"/>
            <a:ext cx="3611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Choice 3: read date, then P/A for each student, save</a:t>
            </a:r>
            <a:endParaRPr lang="en-US" sz="1400" dirty="0"/>
          </a:p>
        </p:txBody>
      </p:sp>
      <p:sp>
        <p:nvSpPr>
          <p:cNvPr id="22" name="number badge 7"/>
          <p:cNvSpPr/>
          <p:nvPr/>
        </p:nvSpPr>
        <p:spPr>
          <a:xfrm>
            <a:off x="4663440" y="1179576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4663440" y="11795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500" dirty="0"/>
          </a:p>
        </p:txBody>
      </p:sp>
      <p:sp>
        <p:nvSpPr>
          <p:cNvPr id="24" name="Text 21"/>
          <p:cNvSpPr txBox="1"/>
          <p:nvPr/>
        </p:nvSpPr>
        <p:spPr>
          <a:xfrm>
            <a:off x="5166360" y="1143000"/>
            <a:ext cx="3611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Choice 4: show attendance of the entered date</a:t>
            </a:r>
            <a:endParaRPr lang="en-US" sz="1400" dirty="0"/>
          </a:p>
        </p:txBody>
      </p:sp>
      <p:sp>
        <p:nvSpPr>
          <p:cNvPr id="25" name="number badge 8"/>
          <p:cNvSpPr/>
          <p:nvPr/>
        </p:nvSpPr>
        <p:spPr>
          <a:xfrm>
            <a:off x="4663440" y="1764792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4663440" y="17647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500" dirty="0"/>
          </a:p>
        </p:txBody>
      </p:sp>
      <p:sp>
        <p:nvSpPr>
          <p:cNvPr id="27" name="Text 24"/>
          <p:cNvSpPr txBox="1"/>
          <p:nvPr/>
        </p:nvSpPr>
        <p:spPr>
          <a:xfrm>
            <a:off x="5166360" y="1728216"/>
            <a:ext cx="3611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Choice 5: Percentage = Present × 100 / Total; 75 or more is ELIGIBLE, else SHORTAGE</a:t>
            </a:r>
            <a:endParaRPr lang="en-US" sz="1400" dirty="0"/>
          </a:p>
        </p:txBody>
      </p:sp>
      <p:sp>
        <p:nvSpPr>
          <p:cNvPr id="28" name="number badge 9"/>
          <p:cNvSpPr/>
          <p:nvPr/>
        </p:nvSpPr>
        <p:spPr>
          <a:xfrm>
            <a:off x="4663440" y="2350008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4663440" y="23500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1500" dirty="0"/>
          </a:p>
        </p:txBody>
      </p:sp>
      <p:sp>
        <p:nvSpPr>
          <p:cNvPr id="30" name="Text 27"/>
          <p:cNvSpPr txBox="1"/>
          <p:nvPr/>
        </p:nvSpPr>
        <p:spPr>
          <a:xfrm>
            <a:off x="5166360" y="2313432"/>
            <a:ext cx="3611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Choice 6: say goodbye and exit</a:t>
            </a:r>
            <a:endParaRPr lang="en-US" sz="1400" dirty="0"/>
          </a:p>
        </p:txBody>
      </p:sp>
      <p:sp>
        <p:nvSpPr>
          <p:cNvPr id="31" name="number badge 10"/>
          <p:cNvSpPr/>
          <p:nvPr/>
        </p:nvSpPr>
        <p:spPr>
          <a:xfrm>
            <a:off x="4663440" y="2935224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4663440" y="29352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500" dirty="0"/>
          </a:p>
        </p:txBody>
      </p:sp>
      <p:sp>
        <p:nvSpPr>
          <p:cNvPr id="33" name="Text 30"/>
          <p:cNvSpPr txBox="1"/>
          <p:nvPr/>
        </p:nvSpPr>
        <p:spPr>
          <a:xfrm>
            <a:off x="5166360" y="2898648"/>
            <a:ext cx="3611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other: show error, return to menu</a:t>
            </a:r>
            <a:endParaRPr lang="en-US" sz="1400" dirty="0"/>
          </a:p>
        </p:txBody>
      </p:sp>
      <p:sp>
        <p:nvSpPr>
          <p:cNvPr id="34" name="number badge 11"/>
          <p:cNvSpPr/>
          <p:nvPr/>
        </p:nvSpPr>
        <p:spPr>
          <a:xfrm>
            <a:off x="4663440" y="352044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663440" y="3520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1500" dirty="0"/>
          </a:p>
        </p:txBody>
      </p:sp>
      <p:sp>
        <p:nvSpPr>
          <p:cNvPr id="36" name="Text 33"/>
          <p:cNvSpPr txBox="1"/>
          <p:nvPr/>
        </p:nvSpPr>
        <p:spPr>
          <a:xfrm>
            <a:off x="5166360" y="3483864"/>
            <a:ext cx="3611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757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2F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10. Implementation</a:t>
            </a:r>
            <a:endParaRPr lang="en-US" sz="3000" dirty="0"/>
          </a:p>
        </p:txBody>
      </p:sp>
      <p:sp>
        <p:nvSpPr>
          <p:cNvPr id="4" name="implementation card 1"/>
          <p:cNvSpPr/>
          <p:nvPr/>
        </p:nvSpPr>
        <p:spPr>
          <a:xfrm>
            <a:off x="457200" y="1188720"/>
            <a:ext cx="4023360" cy="1645920"/>
          </a:xfrm>
          <a:prstGeom prst="roundRect">
            <a:avLst>
              <a:gd name="adj" fmla="val 555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number badge 1"/>
          <p:cNvSpPr/>
          <p:nvPr/>
        </p:nvSpPr>
        <p:spPr>
          <a:xfrm>
            <a:off x="640080" y="1353312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40080" y="13533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1143000" y="1335024"/>
            <a:ext cx="3200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10.1 Create the project directory</a:t>
            </a:r>
            <a:endParaRPr lang="en-US" sz="1600" dirty="0"/>
          </a:p>
        </p:txBody>
      </p:sp>
      <p:sp>
        <p:nvSpPr>
          <p:cNvPr id="8" name="command box 1"/>
          <p:cNvSpPr/>
          <p:nvPr/>
        </p:nvSpPr>
        <p:spPr>
          <a:xfrm>
            <a:off x="640080" y="1920240"/>
            <a:ext cx="3657600" cy="731520"/>
          </a:xfrm>
          <a:prstGeom prst="roundRect">
            <a:avLst>
              <a:gd name="adj" fmla="val 10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77240" y="192024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mkdir attendance_project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cd attendance_project</a:t>
            </a:r>
            <a:endParaRPr lang="en-US" sz="1400" dirty="0"/>
          </a:p>
        </p:txBody>
      </p:sp>
      <p:sp>
        <p:nvSpPr>
          <p:cNvPr id="10" name="implementation card 2"/>
          <p:cNvSpPr/>
          <p:nvPr/>
        </p:nvSpPr>
        <p:spPr>
          <a:xfrm>
            <a:off x="4663440" y="1188720"/>
            <a:ext cx="4023360" cy="1645920"/>
          </a:xfrm>
          <a:prstGeom prst="roundRect">
            <a:avLst>
              <a:gd name="adj" fmla="val 555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number badge 2"/>
          <p:cNvSpPr/>
          <p:nvPr/>
        </p:nvSpPr>
        <p:spPr>
          <a:xfrm>
            <a:off x="4846320" y="1353312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846320" y="13533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5349240" y="1335024"/>
            <a:ext cx="3200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10.2 Create the Bash file</a:t>
            </a:r>
            <a:endParaRPr lang="en-US" sz="1600" dirty="0"/>
          </a:p>
        </p:txBody>
      </p:sp>
      <p:sp>
        <p:nvSpPr>
          <p:cNvPr id="14" name="command box 2"/>
          <p:cNvSpPr/>
          <p:nvPr/>
        </p:nvSpPr>
        <p:spPr>
          <a:xfrm>
            <a:off x="4846320" y="1920240"/>
            <a:ext cx="3657600" cy="731520"/>
          </a:xfrm>
          <a:prstGeom prst="roundRect">
            <a:avLst>
              <a:gd name="adj" fmla="val 10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4983480" y="192024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nano attendance.sh</a:t>
            </a:r>
            <a:endParaRPr lang="en-US" sz="1400" dirty="0"/>
          </a:p>
        </p:txBody>
      </p:sp>
      <p:sp>
        <p:nvSpPr>
          <p:cNvPr id="16" name="implementation card 3"/>
          <p:cNvSpPr/>
          <p:nvPr/>
        </p:nvSpPr>
        <p:spPr>
          <a:xfrm>
            <a:off x="457200" y="2971800"/>
            <a:ext cx="4023360" cy="1645920"/>
          </a:xfrm>
          <a:prstGeom prst="roundRect">
            <a:avLst>
              <a:gd name="adj" fmla="val 555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number badge 3"/>
          <p:cNvSpPr/>
          <p:nvPr/>
        </p:nvSpPr>
        <p:spPr>
          <a:xfrm>
            <a:off x="640080" y="3136392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40080" y="31363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1143000" y="3118104"/>
            <a:ext cx="3200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10.3 Give execute permission</a:t>
            </a:r>
            <a:endParaRPr lang="en-US" sz="1600" dirty="0"/>
          </a:p>
        </p:txBody>
      </p:sp>
      <p:sp>
        <p:nvSpPr>
          <p:cNvPr id="20" name="command box 3"/>
          <p:cNvSpPr/>
          <p:nvPr/>
        </p:nvSpPr>
        <p:spPr>
          <a:xfrm>
            <a:off x="640080" y="3703320"/>
            <a:ext cx="3657600" cy="731520"/>
          </a:xfrm>
          <a:prstGeom prst="roundRect">
            <a:avLst>
              <a:gd name="adj" fmla="val 10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777240" y="370332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chmod +x attendance.sh</a:t>
            </a:r>
            <a:endParaRPr lang="en-US" sz="1400" dirty="0"/>
          </a:p>
        </p:txBody>
      </p:sp>
      <p:sp>
        <p:nvSpPr>
          <p:cNvPr id="22" name="implementation card 4"/>
          <p:cNvSpPr/>
          <p:nvPr/>
        </p:nvSpPr>
        <p:spPr>
          <a:xfrm>
            <a:off x="4663440" y="2971800"/>
            <a:ext cx="4023360" cy="1645920"/>
          </a:xfrm>
          <a:prstGeom prst="roundRect">
            <a:avLst>
              <a:gd name="adj" fmla="val 555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3" name="number badge 4"/>
          <p:cNvSpPr/>
          <p:nvPr/>
        </p:nvSpPr>
        <p:spPr>
          <a:xfrm>
            <a:off x="4846320" y="3136392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4846320" y="31363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5" name="Text 22"/>
          <p:cNvSpPr txBox="1"/>
          <p:nvPr/>
        </p:nvSpPr>
        <p:spPr>
          <a:xfrm>
            <a:off x="5349240" y="3118104"/>
            <a:ext cx="3200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10.4 Run the project</a:t>
            </a:r>
            <a:endParaRPr lang="en-US" sz="1600" dirty="0"/>
          </a:p>
        </p:txBody>
      </p:sp>
      <p:sp>
        <p:nvSpPr>
          <p:cNvPr id="26" name="command box 4"/>
          <p:cNvSpPr/>
          <p:nvPr/>
        </p:nvSpPr>
        <p:spPr>
          <a:xfrm>
            <a:off x="4846320" y="3703320"/>
            <a:ext cx="3657600" cy="731520"/>
          </a:xfrm>
          <a:prstGeom prst="roundRect">
            <a:avLst>
              <a:gd name="adj" fmla="val 10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4983480" y="370332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./attendance.sh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757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2F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11. Source Code (1 of 2)</a:t>
            </a:r>
            <a:endParaRPr lang="en-US" sz="3000" dirty="0"/>
          </a:p>
        </p:txBody>
      </p:sp>
      <p:sp>
        <p:nvSpPr>
          <p:cNvPr id="4" name="code panel setup"/>
          <p:cNvSpPr/>
          <p:nvPr/>
        </p:nvSpPr>
        <p:spPr>
          <a:xfrm>
            <a:off x="457200" y="1097280"/>
            <a:ext cx="4023360" cy="3383280"/>
          </a:xfrm>
          <a:prstGeom prst="roundRect">
            <a:avLst>
              <a:gd name="adj" fmla="val 2703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40080" y="1207008"/>
            <a:ext cx="3657600" cy="3163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FB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#!/bin/bash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STUDENTS="students.txt"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ATTENDANCE="attendance.txt"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MIN_PERCENT=75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touch "$STUDENTS" "$ATTENDANCE"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add_student()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read -p "Enter roll number: " roll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grep -q "^$roll," "$STUDENTS"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then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echo "Roll number exists."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fi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read -p "Enter student name: " name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echo "$roll,$name" &gt;&gt; "$STUDENTS"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sp>
        <p:nvSpPr>
          <p:cNvPr id="6" name="code panel mark"/>
          <p:cNvSpPr/>
          <p:nvPr/>
        </p:nvSpPr>
        <p:spPr>
          <a:xfrm>
            <a:off x="4663440" y="1097280"/>
            <a:ext cx="4023360" cy="3383280"/>
          </a:xfrm>
          <a:prstGeom prst="roundRect">
            <a:avLst>
              <a:gd name="adj" fmla="val 2703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4846320" y="1207008"/>
            <a:ext cx="3657600" cy="3163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mark_attendance()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read -p "Enter date: " date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while IFS=, read -r roll name &lt;&amp;3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do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read -p "$roll (P/A): " status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status=${status^^}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[ "$status" = "P" ] ||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[ "$status" = "A" ]; then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echo "$date,$roll,$status" \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&gt;&gt; "$ATTENDANCE"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fi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done 3&lt; "$STUDENTS"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45720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C7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Excerpts shown. Full script: attendance.sh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757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2F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11. Source Code (2 of 2)</a:t>
            </a:r>
            <a:endParaRPr lang="en-US" sz="3000" dirty="0"/>
          </a:p>
        </p:txBody>
      </p:sp>
      <p:sp>
        <p:nvSpPr>
          <p:cNvPr id="4" name="code panel view"/>
          <p:cNvSpPr/>
          <p:nvPr/>
        </p:nvSpPr>
        <p:spPr>
          <a:xfrm>
            <a:off x="457200" y="1097280"/>
            <a:ext cx="4023360" cy="3383280"/>
          </a:xfrm>
          <a:prstGeom prst="roundRect">
            <a:avLst>
              <a:gd name="adj" fmla="val 2703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40080" y="1207008"/>
            <a:ext cx="3657600" cy="3163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view_by_date()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read -p "Enter date: " date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grep "^$date," "$ATTENDANCE" |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while IFS=, read -r d roll status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do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name=$(grep "^$roll," "$STUDENTS" \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| cut -d, -f2)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printf "%-10s %-20s %s\n" \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"$roll" "$name" "$status"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done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FB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in attendance_report()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percent=$((present * 100 / total))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[ "$percent" -ge "$MIN_PERCENT" ]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then status="ELIGIBLE"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 status="SHORTAGE"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</a:t>
            </a:r>
            <a:endParaRPr lang="en-US" sz="1200" dirty="0"/>
          </a:p>
        </p:txBody>
      </p:sp>
      <p:sp>
        <p:nvSpPr>
          <p:cNvPr id="6" name="code panel menu"/>
          <p:cNvSpPr/>
          <p:nvPr/>
        </p:nvSpPr>
        <p:spPr>
          <a:xfrm>
            <a:off x="4663440" y="1097280"/>
            <a:ext cx="4023360" cy="3383280"/>
          </a:xfrm>
          <a:prstGeom prst="roundRect">
            <a:avLst>
              <a:gd name="adj" fmla="val 2703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4846320" y="1207008"/>
            <a:ext cx="3657600" cy="3163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true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FB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# print the menu, then: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read -p "Enter choice (1-6): " choice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case $choice in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1) add_student ;;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2) view_students ;;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3) mark_attendance ;;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4) view_by_date ;;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5) attendance_report ;;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6) echo "Goodbye!"; exit 0 ;;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*) echo "Invalid choice." ;;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esac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done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45720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C7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Excerpts shown. Full script: attendance.sh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757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2F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12. Sample Execution (1 of 2)</a:t>
            </a:r>
            <a:endParaRPr lang="en-US" sz="3000" dirty="0"/>
          </a:p>
        </p:txBody>
      </p:sp>
      <p:pic>
        <p:nvPicPr>
          <p:cNvPr id="4" name="add student screenshot" descr="Terminal showing the menu and adding a studen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43000"/>
            <a:ext cx="3383280" cy="3240479"/>
          </a:xfrm>
          <a:prstGeom prst="rect">
            <a:avLst/>
          </a:prstGeom>
        </p:spPr>
      </p:pic>
      <p:pic>
        <p:nvPicPr>
          <p:cNvPr id="5" name="mark attendance screenshot" descr="Terminal showing attendance being marked with an invalid entry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3360" y="1143000"/>
            <a:ext cx="4663440" cy="2399899"/>
          </a:xfrm>
          <a:prstGeom prst="rect">
            <a:avLst/>
          </a:prstGeom>
        </p:spPr>
      </p:pic>
      <p:sp>
        <p:nvSpPr>
          <p:cNvPr id="6" name="Text 1"/>
          <p:cNvSpPr txBox="1"/>
          <p:nvPr/>
        </p:nvSpPr>
        <p:spPr>
          <a:xfrm>
            <a:off x="457200" y="452628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12.1 Menu and Add Student</a:t>
            </a:r>
            <a:endParaRPr lang="en-US" sz="1300" dirty="0"/>
          </a:p>
        </p:txBody>
      </p:sp>
      <p:sp>
        <p:nvSpPr>
          <p:cNvPr id="7" name="Text 2"/>
          <p:cNvSpPr txBox="1"/>
          <p:nvPr/>
        </p:nvSpPr>
        <p:spPr>
          <a:xfrm>
            <a:off x="4023360" y="361188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12.2 Mark Attendance (the entry "x" is rejected)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757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2F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12. Sample Execution (2 of 2)</a:t>
            </a:r>
            <a:endParaRPr lang="en-US" sz="3000" dirty="0"/>
          </a:p>
        </p:txBody>
      </p:sp>
      <p:pic>
        <p:nvPicPr>
          <p:cNvPr id="4" name="view by date screenshot" descr="Terminal showing attendance of 2026-10-08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43000"/>
            <a:ext cx="3383280" cy="2351093"/>
          </a:xfrm>
          <a:prstGeom prst="rect">
            <a:avLst/>
          </a:prstGeom>
        </p:spPr>
      </p:pic>
      <p:pic>
        <p:nvPicPr>
          <p:cNvPr id="5" name="attendance report screenshot" descr="Terminal showing the attendance repor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3360" y="1143000"/>
            <a:ext cx="4663440" cy="1951660"/>
          </a:xfrm>
          <a:prstGeom prst="rect">
            <a:avLst/>
          </a:prstGeom>
        </p:spPr>
      </p:pic>
      <p:sp>
        <p:nvSpPr>
          <p:cNvPr id="6" name="Text 1"/>
          <p:cNvSpPr txBox="1"/>
          <p:nvPr/>
        </p:nvSpPr>
        <p:spPr>
          <a:xfrm>
            <a:off x="457200" y="361188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12.3 View Attendance by Date</a:t>
            </a:r>
            <a:endParaRPr lang="en-US" sz="1300" dirty="0"/>
          </a:p>
        </p:txBody>
      </p:sp>
      <p:sp>
        <p:nvSpPr>
          <p:cNvPr id="7" name="Text 2"/>
          <p:cNvSpPr txBox="1"/>
          <p:nvPr/>
        </p:nvSpPr>
        <p:spPr>
          <a:xfrm>
            <a:off x="4023360" y="342900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12.4 Attendance Report</a:t>
            </a:r>
            <a:endParaRPr lang="en-US" sz="1300" dirty="0"/>
          </a:p>
        </p:txBody>
      </p:sp>
      <p:sp>
        <p:nvSpPr>
          <p:cNvPr id="8" name="Text 3"/>
          <p:cNvSpPr txBox="1"/>
          <p:nvPr/>
        </p:nvSpPr>
        <p:spPr>
          <a:xfrm>
            <a:off x="4023360" y="379476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C7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required attendance is 75%. Priya (75%) is ELIGIBLE; Arjun (50%) has SHORTAGE.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757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2F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13. Testing</a:t>
            </a:r>
            <a:endParaRPr lang="en-US" sz="3000" dirty="0"/>
          </a:p>
        </p:txBody>
      </p:sp>
      <p:sp>
        <p:nvSpPr>
          <p:cNvPr id="4" name="pass badge"/>
          <p:cNvSpPr/>
          <p:nvPr/>
        </p:nvSpPr>
        <p:spPr>
          <a:xfrm>
            <a:off x="6949440" y="347472"/>
            <a:ext cx="1737360" cy="502920"/>
          </a:xfrm>
          <a:prstGeom prst="roundRect">
            <a:avLst>
              <a:gd name="adj" fmla="val 18182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949440" y="347472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10 passed</a:t>
            </a:r>
            <a:endParaRPr lang="en-US" sz="1500" dirty="0"/>
          </a:p>
        </p:txBody>
      </p:sp>
      <p:graphicFrame>
        <p:nvGraphicFramePr>
          <p:cNvPr id="18" name="test cases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3200400"/>
                <a:gridCol w="3383280"/>
                <a:gridCol w="1005840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E2F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Input / Action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E2F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Expected and actual result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E2F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E2F2E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E2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E2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 student 101, Rahul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E2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Student saved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E8B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AF3F1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E2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E2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 roll 101 again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E2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Duplicate rejected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E8B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E2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E2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Roll "10 1" (has a space)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E2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Invalid roll rejected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E8B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AF3F1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E2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E2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 entered as "x"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E2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Rejected, prompt repeats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E8B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E2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E2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 2026-10-05 twice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E2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Duplicate date rejected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E8B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AF3F1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E2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E2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View attendance of 2026-10-08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E2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Present / Absent table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E8B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E2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E2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Rahul present 4 of 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E2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100%, ELIGIBLE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E8B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AF3F1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E2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E2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Priya present 3 of 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E2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75%, ELIGIBLE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E8B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E2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E2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Arjun present 2 of 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E2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50%, SHORTAGE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E8B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AF3F1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E2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E2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Menu choice 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E2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Invalid choice message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E8B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757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2F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14. Team Member Responsibilities</a:t>
            </a:r>
            <a:endParaRPr lang="en-US" sz="3000" dirty="0"/>
          </a:p>
        </p:txBody>
      </p:sp>
      <p:sp>
        <p:nvSpPr>
          <p:cNvPr id="4" name="team card 1"/>
          <p:cNvSpPr/>
          <p:nvPr/>
        </p:nvSpPr>
        <p:spPr>
          <a:xfrm>
            <a:off x="457200" y="1000000"/>
            <a:ext cx="4023360" cy="1750000"/>
          </a:xfrm>
          <a:prstGeom prst="roundRect">
            <a:avLst>
              <a:gd name="adj" fmla="val 259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am icon 1 circle"/>
          <p:cNvSpPr/>
          <p:nvPr/>
        </p:nvSpPr>
        <p:spPr>
          <a:xfrm>
            <a:off x="685800" y="1110000"/>
            <a:ext cx="420000" cy="4200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team icon 1" descr="team icon 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0800" y="1215000"/>
            <a:ext cx="210000" cy="21000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217200" y="1110000"/>
            <a:ext cx="3113360" cy="4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VENKATESH SHARMA</a:t>
            </a:r>
            <a:endParaRPr lang="en-US" sz="1600" dirty="0"/>
          </a:p>
        </p:txBody>
      </p:sp>
      <p:sp>
        <p:nvSpPr>
          <p:cNvPr id="8" name="Text 4"/>
          <p:cNvSpPr txBox="1"/>
          <p:nvPr/>
        </p:nvSpPr>
        <p:spPr>
          <a:xfrm>
            <a:off x="731520" y="1600000"/>
            <a:ext cx="3599040" cy="6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analysis</a:t>
            </a:r>
            <a:endParaRPr lang="en-US" sz="1200" dirty="0"/>
          </a:p>
          <a:p>
            <a:pPr marL="228600" indent="-2286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Bash logic and menu design</a:t>
            </a:r>
            <a:endParaRPr lang="en-US" sz="1200" dirty="0"/>
          </a:p>
        </p:txBody>
      </p:sp>
      <p:sp>
        <p:nvSpPr>
          <p:cNvPr id="9" name="deliverables chip 1"/>
          <p:cNvSpPr/>
          <p:nvPr/>
        </p:nvSpPr>
        <p:spPr>
          <a:xfrm>
            <a:off x="685800" y="2290000"/>
            <a:ext cx="3566160" cy="360000"/>
          </a:xfrm>
          <a:prstGeom prst="roundRect">
            <a:avLst>
              <a:gd name="adj" fmla="val 14286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822960" y="2290000"/>
            <a:ext cx="3291840" cy="3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A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Deliverables: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code and algorithm</a:t>
            </a:r>
            <a:endParaRPr lang="en-US" sz="1200" dirty="0"/>
          </a:p>
        </p:txBody>
      </p:sp>
      <p:sp>
        <p:nvSpPr>
          <p:cNvPr id="11" name="team card 2"/>
          <p:cNvSpPr/>
          <p:nvPr/>
        </p:nvSpPr>
        <p:spPr>
          <a:xfrm>
            <a:off x="4663440" y="1000000"/>
            <a:ext cx="4023360" cy="1750000"/>
          </a:xfrm>
          <a:prstGeom prst="roundRect">
            <a:avLst>
              <a:gd name="adj" fmla="val 259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am icon 2 circle"/>
          <p:cNvSpPr/>
          <p:nvPr/>
        </p:nvSpPr>
        <p:spPr>
          <a:xfrm>
            <a:off x="4892040" y="1110000"/>
            <a:ext cx="420000" cy="4200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3" name="team icon 2" descr="team icon 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97040" y="1215000"/>
            <a:ext cx="210000" cy="21000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5423440" y="1110000"/>
            <a:ext cx="3113360" cy="4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TALLURU BHARATA</a:t>
            </a:r>
            <a:endParaRPr lang="en-US" sz="1600" dirty="0"/>
          </a:p>
        </p:txBody>
      </p:sp>
      <p:sp>
        <p:nvSpPr>
          <p:cNvPr id="15" name="Text 10"/>
          <p:cNvSpPr txBox="1"/>
          <p:nvPr/>
        </p:nvSpPr>
        <p:spPr>
          <a:xfrm>
            <a:off x="4937760" y="1600000"/>
            <a:ext cx="3599040" cy="6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attendance and report functions</a:t>
            </a:r>
            <a:endParaRPr lang="en-US" sz="1200" dirty="0"/>
          </a:p>
          <a:p>
            <a:pPr marL="228600" indent="-2286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and sample outputs</a:t>
            </a:r>
            <a:endParaRPr lang="en-US" sz="1200" dirty="0"/>
          </a:p>
        </p:txBody>
      </p:sp>
      <p:sp>
        <p:nvSpPr>
          <p:cNvPr id="16" name="deliverables chip 2"/>
          <p:cNvSpPr/>
          <p:nvPr/>
        </p:nvSpPr>
        <p:spPr>
          <a:xfrm>
            <a:off x="4892040" y="2290000"/>
            <a:ext cx="3566160" cy="360000"/>
          </a:xfrm>
          <a:prstGeom prst="roundRect">
            <a:avLst>
              <a:gd name="adj" fmla="val 14286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7" name="Text 12"/>
          <p:cNvSpPr txBox="1"/>
          <p:nvPr/>
        </p:nvSpPr>
        <p:spPr>
          <a:xfrm>
            <a:off x="5029200" y="2290000"/>
            <a:ext cx="3291840" cy="3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A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Deliverables: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cases and sample outputs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757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18</a:t>
            </a:fld>
            <a:endParaRPr lang="en-US"/>
          </a:p>
        </p:txBody>
      </p:sp>
      <p:sp>
        <p:nvSpPr>
          <p:cNvPr id="26" name="team card 1 b"/>
          <p:cNvSpPr/>
          <p:nvPr/>
        </p:nvSpPr>
        <p:spPr>
          <a:xfrm>
            <a:off x="457200" y="2870000"/>
            <a:ext cx="4023360" cy="1750000"/>
          </a:xfrm>
          <a:prstGeom prst="roundRect">
            <a:avLst>
              <a:gd name="adj" fmla="val 259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7" name="team icon 1 circle b"/>
          <p:cNvSpPr/>
          <p:nvPr/>
        </p:nvSpPr>
        <p:spPr>
          <a:xfrm>
            <a:off x="685800" y="2980000"/>
            <a:ext cx="420000" cy="4200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8" name="team icon 1 b" descr="team icon 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0800" y="3085000"/>
            <a:ext cx="210000" cy="210000"/>
          </a:xfrm>
          <a:prstGeom prst="rect">
            <a:avLst/>
          </a:prstGeom>
        </p:spPr>
      </p:pic>
      <p:sp>
        <p:nvSpPr>
          <p:cNvPr id="29" name="Text 3 b"/>
          <p:cNvSpPr txBox="1"/>
          <p:nvPr/>
        </p:nvSpPr>
        <p:spPr>
          <a:xfrm>
            <a:off x="1217200" y="2980000"/>
            <a:ext cx="3113360" cy="4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MANCHALA KEERTHY</a:t>
            </a:r>
            <a:endParaRPr lang="en-US" sz="1600" dirty="0"/>
          </a:p>
        </p:txBody>
      </p:sp>
      <p:sp>
        <p:nvSpPr>
          <p:cNvPr id="30" name="Text 4 b"/>
          <p:cNvSpPr txBox="1"/>
          <p:nvPr/>
        </p:nvSpPr>
        <p:spPr>
          <a:xfrm>
            <a:off x="731520" y="3470000"/>
            <a:ext cx="3599040" cy="6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student and mark attendance functions</a:t>
            </a:r>
            <a:endParaRPr lang="en-US" sz="1200" dirty="0"/>
          </a:p>
          <a:p>
            <a:pPr marL="228600" indent="-2286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handling</a:t>
            </a:r>
            <a:endParaRPr lang="en-US" sz="1200" dirty="0"/>
          </a:p>
        </p:txBody>
      </p:sp>
      <p:sp>
        <p:nvSpPr>
          <p:cNvPr id="31" name="deliverables chip 1 b"/>
          <p:cNvSpPr/>
          <p:nvPr/>
        </p:nvSpPr>
        <p:spPr>
          <a:xfrm>
            <a:off x="685800" y="4160000"/>
            <a:ext cx="3566160" cy="360000"/>
          </a:xfrm>
          <a:prstGeom prst="roundRect">
            <a:avLst>
              <a:gd name="adj" fmla="val 14286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32" name="Text 6 b"/>
          <p:cNvSpPr txBox="1"/>
          <p:nvPr/>
        </p:nvSpPr>
        <p:spPr>
          <a:xfrm>
            <a:off x="822960" y="4160000"/>
            <a:ext cx="3291840" cy="3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A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Deliverables: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entry code and data files</a:t>
            </a:r>
            <a:endParaRPr lang="en-US" sz="1200" dirty="0"/>
          </a:p>
        </p:txBody>
      </p:sp>
      <p:sp>
        <p:nvSpPr>
          <p:cNvPr id="33" name="team card 2 b"/>
          <p:cNvSpPr/>
          <p:nvPr/>
        </p:nvSpPr>
        <p:spPr>
          <a:xfrm>
            <a:off x="4663440" y="2870000"/>
            <a:ext cx="4023360" cy="1750000"/>
          </a:xfrm>
          <a:prstGeom prst="roundRect">
            <a:avLst>
              <a:gd name="adj" fmla="val 259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4" name="team icon 2 circle b"/>
          <p:cNvSpPr/>
          <p:nvPr/>
        </p:nvSpPr>
        <p:spPr>
          <a:xfrm>
            <a:off x="4892040" y="2980000"/>
            <a:ext cx="420000" cy="4200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35" name="team icon 2 b" descr="team icon 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97040" y="3085000"/>
            <a:ext cx="210000" cy="210000"/>
          </a:xfrm>
          <a:prstGeom prst="rect">
            <a:avLst/>
          </a:prstGeom>
        </p:spPr>
      </p:pic>
      <p:sp>
        <p:nvSpPr>
          <p:cNvPr id="36" name="Text 9 b"/>
          <p:cNvSpPr txBox="1"/>
          <p:nvPr/>
        </p:nvSpPr>
        <p:spPr>
          <a:xfrm>
            <a:off x="5423440" y="2980000"/>
            <a:ext cx="3113360" cy="4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MOHAMMAD IDRIS AHMED</a:t>
            </a:r>
            <a:endParaRPr lang="en-US" sz="1600" dirty="0"/>
          </a:p>
        </p:txBody>
      </p:sp>
      <p:sp>
        <p:nvSpPr>
          <p:cNvPr id="37" name="Text 10 b"/>
          <p:cNvSpPr txBox="1"/>
          <p:nvPr/>
        </p:nvSpPr>
        <p:spPr>
          <a:xfrm>
            <a:off x="4937760" y="3470000"/>
            <a:ext cx="3599040" cy="6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</a:t>
            </a:r>
            <a:endParaRPr lang="en-US" sz="1200" dirty="0"/>
          </a:p>
          <a:p>
            <a:pPr marL="228600" indent="-2286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</a:t>
            </a:r>
            <a:endParaRPr lang="en-US" sz="1200" dirty="0"/>
          </a:p>
        </p:txBody>
      </p:sp>
      <p:sp>
        <p:nvSpPr>
          <p:cNvPr id="38" name="deliverables chip 2 b"/>
          <p:cNvSpPr/>
          <p:nvPr/>
        </p:nvSpPr>
        <p:spPr>
          <a:xfrm>
            <a:off x="4892040" y="4160000"/>
            <a:ext cx="3566160" cy="360000"/>
          </a:xfrm>
          <a:prstGeom prst="roundRect">
            <a:avLst>
              <a:gd name="adj" fmla="val 14286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39" name="Text 12 b"/>
          <p:cNvSpPr txBox="1"/>
          <p:nvPr/>
        </p:nvSpPr>
        <p:spPr>
          <a:xfrm>
            <a:off x="5029200" y="4160000"/>
            <a:ext cx="3291840" cy="3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A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Deliverables: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report and slides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2F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15. Advantages and Limitations</a:t>
            </a:r>
            <a:endParaRPr lang="en-US" sz="3000" dirty="0"/>
          </a:p>
        </p:txBody>
      </p:sp>
      <p:sp>
        <p:nvSpPr>
          <p:cNvPr id="4" name="15.1 Advantages card"/>
          <p:cNvSpPr/>
          <p:nvPr/>
        </p:nvSpPr>
        <p:spPr>
          <a:xfrm>
            <a:off x="457200" y="1143000"/>
            <a:ext cx="4023360" cy="3520440"/>
          </a:xfrm>
          <a:prstGeom prst="roundRect">
            <a:avLst>
              <a:gd name="adj" fmla="val 259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15.1 Advantages icon circle"/>
          <p:cNvSpPr/>
          <p:nvPr/>
        </p:nvSpPr>
        <p:spPr>
          <a:xfrm>
            <a:off x="640080" y="1307592"/>
            <a:ext cx="457200" cy="45720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6" name="15.1 Advantages icon" descr="15.1 Advantages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4380" y="1421892"/>
            <a:ext cx="228600" cy="22860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234440" y="1307592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15.1 Advantages</a:t>
            </a:r>
            <a:endParaRPr lang="en-US" sz="1800" dirty="0"/>
          </a:p>
        </p:txBody>
      </p:sp>
      <p:sp>
        <p:nvSpPr>
          <p:cNvPr id="8" name="Text 4"/>
          <p:cNvSpPr txBox="1"/>
          <p:nvPr/>
        </p:nvSpPr>
        <p:spPr>
          <a:xfrm>
            <a:off x="731520" y="1920240"/>
            <a:ext cx="35661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and easy for beginners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directly in the terminal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manual counting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data permanently in files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attendance shortage automatically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database or extra software needed</a:t>
            </a:r>
            <a:endParaRPr lang="en-US" sz="1600" dirty="0"/>
          </a:p>
        </p:txBody>
      </p:sp>
      <p:sp>
        <p:nvSpPr>
          <p:cNvPr id="9" name="15.2 Limitations card"/>
          <p:cNvSpPr/>
          <p:nvPr/>
        </p:nvSpPr>
        <p:spPr>
          <a:xfrm>
            <a:off x="4663440" y="1143000"/>
            <a:ext cx="4023360" cy="3520440"/>
          </a:xfrm>
          <a:prstGeom prst="roundRect">
            <a:avLst>
              <a:gd name="adj" fmla="val 259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15.2 Limitations icon circle"/>
          <p:cNvSpPr/>
          <p:nvPr/>
        </p:nvSpPr>
        <p:spPr>
          <a:xfrm>
            <a:off x="4846320" y="1307592"/>
            <a:ext cx="457200" cy="4572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1" name="15.2 Limitations icon" descr="15.2 Limitations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0620" y="1421892"/>
            <a:ext cx="228600" cy="22860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5440680" y="1307592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15.2 Limitations</a:t>
            </a:r>
            <a:endParaRPr lang="en-US" sz="1800" dirty="0"/>
          </a:p>
        </p:txBody>
      </p:sp>
      <p:sp>
        <p:nvSpPr>
          <p:cNvPr id="13" name="Text 8"/>
          <p:cNvSpPr txBox="1"/>
          <p:nvPr/>
        </p:nvSpPr>
        <p:spPr>
          <a:xfrm>
            <a:off x="4937760" y="1920240"/>
            <a:ext cx="35661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class at a time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edit or delete option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Percentage is an integer value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text files, no password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format checked, not the real calendar date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graphical interface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757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2F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16. Future Enhancements</a:t>
            </a:r>
            <a:endParaRPr lang="en-US" sz="3000" dirty="0"/>
          </a:p>
        </p:txBody>
      </p:sp>
      <p:sp>
        <p:nvSpPr>
          <p:cNvPr id="4" name="enhancement card 1"/>
          <p:cNvSpPr/>
          <p:nvPr/>
        </p:nvSpPr>
        <p:spPr>
          <a:xfrm>
            <a:off x="457200" y="1188720"/>
            <a:ext cx="1920240" cy="1691640"/>
          </a:xfrm>
          <a:prstGeom prst="roundRect">
            <a:avLst>
              <a:gd name="adj" fmla="val 540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enhancement icon 1 circle"/>
          <p:cNvSpPr/>
          <p:nvPr/>
        </p:nvSpPr>
        <p:spPr>
          <a:xfrm>
            <a:off x="640080" y="137160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enhancement icon 1" descr="enhancement icon 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4380" y="1485900"/>
            <a:ext cx="228600" cy="22860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640080" y="1965960"/>
            <a:ext cx="1645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and delete students and attendance</a:t>
            </a:r>
            <a:endParaRPr lang="en-US" sz="1400" dirty="0"/>
          </a:p>
        </p:txBody>
      </p:sp>
      <p:sp>
        <p:nvSpPr>
          <p:cNvPr id="8" name="enhancement card 2"/>
          <p:cNvSpPr/>
          <p:nvPr/>
        </p:nvSpPr>
        <p:spPr>
          <a:xfrm>
            <a:off x="2560320" y="1188720"/>
            <a:ext cx="1920240" cy="1691640"/>
          </a:xfrm>
          <a:prstGeom prst="roundRect">
            <a:avLst>
              <a:gd name="adj" fmla="val 540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enhancement icon 2 circle"/>
          <p:cNvSpPr/>
          <p:nvPr/>
        </p:nvSpPr>
        <p:spPr>
          <a:xfrm>
            <a:off x="2743200" y="137160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0" name="enhancement icon 2" descr="enhancement icon 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7500" y="1485900"/>
            <a:ext cx="228600" cy="22860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2743200" y="1965960"/>
            <a:ext cx="1645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classes, sections and subjects</a:t>
            </a:r>
            <a:endParaRPr lang="en-US" sz="1400" dirty="0"/>
          </a:p>
        </p:txBody>
      </p:sp>
      <p:sp>
        <p:nvSpPr>
          <p:cNvPr id="12" name="enhancement card 3"/>
          <p:cNvSpPr/>
          <p:nvPr/>
        </p:nvSpPr>
        <p:spPr>
          <a:xfrm>
            <a:off x="4663440" y="1188720"/>
            <a:ext cx="1920240" cy="1691640"/>
          </a:xfrm>
          <a:prstGeom prst="roundRect">
            <a:avLst>
              <a:gd name="adj" fmla="val 540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enhancement icon 3 circle"/>
          <p:cNvSpPr/>
          <p:nvPr/>
        </p:nvSpPr>
        <p:spPr>
          <a:xfrm>
            <a:off x="4846320" y="137160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4" name="enhancement icon 3" descr="enhancement icon 3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0620" y="1485900"/>
            <a:ext cx="228600" cy="228600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4846320" y="1965960"/>
            <a:ext cx="1645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 login system</a:t>
            </a:r>
            <a:endParaRPr lang="en-US" sz="1400" dirty="0"/>
          </a:p>
        </p:txBody>
      </p:sp>
      <p:sp>
        <p:nvSpPr>
          <p:cNvPr id="16" name="enhancement card 4"/>
          <p:cNvSpPr/>
          <p:nvPr/>
        </p:nvSpPr>
        <p:spPr>
          <a:xfrm>
            <a:off x="6766560" y="1188720"/>
            <a:ext cx="1920240" cy="1691640"/>
          </a:xfrm>
          <a:prstGeom prst="roundRect">
            <a:avLst>
              <a:gd name="adj" fmla="val 540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enhancement icon 4 circle"/>
          <p:cNvSpPr/>
          <p:nvPr/>
        </p:nvSpPr>
        <p:spPr>
          <a:xfrm>
            <a:off x="6949440" y="137160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8" name="enhancement icon 4" descr="enhancement icon 4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63740" y="1485900"/>
            <a:ext cx="228600" cy="228600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6949440" y="1965960"/>
            <a:ext cx="1645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report to CSV or text</a:t>
            </a:r>
            <a:endParaRPr lang="en-US" sz="1400" dirty="0"/>
          </a:p>
        </p:txBody>
      </p:sp>
      <p:sp>
        <p:nvSpPr>
          <p:cNvPr id="20" name="enhancement card 5"/>
          <p:cNvSpPr/>
          <p:nvPr/>
        </p:nvSpPr>
        <p:spPr>
          <a:xfrm>
            <a:off x="1508760" y="3017520"/>
            <a:ext cx="1920240" cy="1691640"/>
          </a:xfrm>
          <a:prstGeom prst="roundRect">
            <a:avLst>
              <a:gd name="adj" fmla="val 540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1" name="enhancement icon 5 circle"/>
          <p:cNvSpPr/>
          <p:nvPr/>
        </p:nvSpPr>
        <p:spPr>
          <a:xfrm>
            <a:off x="1691640" y="320040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2" name="enhancement icon 5" descr="enhancement icon 5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05940" y="3314700"/>
            <a:ext cx="228600" cy="228600"/>
          </a:xfrm>
          <a:prstGeom prst="rect">
            <a:avLst/>
          </a:prstGeom>
        </p:spPr>
      </p:pic>
      <p:sp>
        <p:nvSpPr>
          <p:cNvPr id="23" name="Text 15"/>
          <p:cNvSpPr txBox="1"/>
          <p:nvPr/>
        </p:nvSpPr>
        <p:spPr>
          <a:xfrm>
            <a:off x="1691640" y="3794760"/>
            <a:ext cx="1645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Cron job to send shortage reports</a:t>
            </a:r>
            <a:endParaRPr lang="en-US" sz="1400" dirty="0"/>
          </a:p>
        </p:txBody>
      </p:sp>
      <p:sp>
        <p:nvSpPr>
          <p:cNvPr id="24" name="enhancement card 6"/>
          <p:cNvSpPr/>
          <p:nvPr/>
        </p:nvSpPr>
        <p:spPr>
          <a:xfrm>
            <a:off x="3611880" y="3017520"/>
            <a:ext cx="1920240" cy="1691640"/>
          </a:xfrm>
          <a:prstGeom prst="roundRect">
            <a:avLst>
              <a:gd name="adj" fmla="val 540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5" name="enhancement icon 6 circle"/>
          <p:cNvSpPr/>
          <p:nvPr/>
        </p:nvSpPr>
        <p:spPr>
          <a:xfrm>
            <a:off x="3794760" y="320040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6" name="enhancement icon 6" descr="enhancement icon 6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09060" y="3314700"/>
            <a:ext cx="228600" cy="228600"/>
          </a:xfrm>
          <a:prstGeom prst="rect">
            <a:avLst/>
          </a:prstGeom>
        </p:spPr>
      </p:pic>
      <p:sp>
        <p:nvSpPr>
          <p:cNvPr id="27" name="Text 18"/>
          <p:cNvSpPr txBox="1"/>
          <p:nvPr/>
        </p:nvSpPr>
        <p:spPr>
          <a:xfrm>
            <a:off x="3794760" y="3794760"/>
            <a:ext cx="1645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data in SQLite or MySQL</a:t>
            </a:r>
            <a:endParaRPr lang="en-US" sz="1400" dirty="0"/>
          </a:p>
        </p:txBody>
      </p:sp>
      <p:sp>
        <p:nvSpPr>
          <p:cNvPr id="28" name="enhancement card 7"/>
          <p:cNvSpPr/>
          <p:nvPr/>
        </p:nvSpPr>
        <p:spPr>
          <a:xfrm>
            <a:off x="5715000" y="3017520"/>
            <a:ext cx="1920240" cy="1691640"/>
          </a:xfrm>
          <a:prstGeom prst="roundRect">
            <a:avLst>
              <a:gd name="adj" fmla="val 540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9" name="enhancement icon 7 circle"/>
          <p:cNvSpPr/>
          <p:nvPr/>
        </p:nvSpPr>
        <p:spPr>
          <a:xfrm>
            <a:off x="5897880" y="3200400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30" name="enhancement icon 7" descr="enhancement icon 7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12180" y="3314700"/>
            <a:ext cx="228600" cy="228600"/>
          </a:xfrm>
          <a:prstGeom prst="rect">
            <a:avLst/>
          </a:prstGeom>
        </p:spPr>
      </p:pic>
      <p:sp>
        <p:nvSpPr>
          <p:cNvPr id="31" name="Text 21"/>
          <p:cNvSpPr txBox="1"/>
          <p:nvPr/>
        </p:nvSpPr>
        <p:spPr>
          <a:xfrm>
            <a:off x="5897880" y="3794760"/>
            <a:ext cx="1645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Graphical or web-based interface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757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2F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17. Learning Outcomes</a:t>
            </a:r>
            <a:endParaRPr lang="en-US" sz="30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051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C7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completing this project, students should be able to:</a:t>
            </a:r>
            <a:endParaRPr lang="en-US" sz="1500" dirty="0"/>
          </a:p>
        </p:txBody>
      </p:sp>
      <p:sp>
        <p:nvSpPr>
          <p:cNvPr id="5" name="check circle 1"/>
          <p:cNvSpPr/>
          <p:nvPr/>
        </p:nvSpPr>
        <p:spPr>
          <a:xfrm>
            <a:off x="457200" y="1517904"/>
            <a:ext cx="329184" cy="32918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check icon 1" descr="chec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496" y="1600200"/>
            <a:ext cx="164592" cy="164592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914400" y="1463040"/>
            <a:ext cx="3611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Navigate directories using Linux commands</a:t>
            </a:r>
            <a:endParaRPr lang="en-US" sz="1400" dirty="0"/>
          </a:p>
        </p:txBody>
      </p:sp>
      <p:sp>
        <p:nvSpPr>
          <p:cNvPr id="8" name="check circle 2"/>
          <p:cNvSpPr/>
          <p:nvPr/>
        </p:nvSpPr>
        <p:spPr>
          <a:xfrm>
            <a:off x="457200" y="2048256"/>
            <a:ext cx="329184" cy="32918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9" name="check icon 2" descr="che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" y="2130552"/>
            <a:ext cx="164592" cy="164592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914400" y="1993392"/>
            <a:ext cx="3611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and edit files from the terminal</a:t>
            </a:r>
            <a:endParaRPr lang="en-US" sz="1400" dirty="0"/>
          </a:p>
        </p:txBody>
      </p:sp>
      <p:sp>
        <p:nvSpPr>
          <p:cNvPr id="11" name="check circle 3"/>
          <p:cNvSpPr/>
          <p:nvPr/>
        </p:nvSpPr>
        <p:spPr>
          <a:xfrm>
            <a:off x="457200" y="2578608"/>
            <a:ext cx="329184" cy="32918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2" name="check icon 3" descr="check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496" y="2660904"/>
            <a:ext cx="164592" cy="164592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914400" y="2523744"/>
            <a:ext cx="3611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permissions using chmod</a:t>
            </a:r>
            <a:endParaRPr lang="en-US" sz="1400" dirty="0"/>
          </a:p>
        </p:txBody>
      </p:sp>
      <p:sp>
        <p:nvSpPr>
          <p:cNvPr id="14" name="check circle 4"/>
          <p:cNvSpPr/>
          <p:nvPr/>
        </p:nvSpPr>
        <p:spPr>
          <a:xfrm>
            <a:off x="457200" y="3108960"/>
            <a:ext cx="329184" cy="32918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5" name="check icon 4" descr="check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496" y="3191256"/>
            <a:ext cx="164592" cy="164592"/>
          </a:xfrm>
          <a:prstGeom prst="rect">
            <a:avLst/>
          </a:prstGeom>
        </p:spPr>
      </p:pic>
      <p:sp>
        <p:nvSpPr>
          <p:cNvPr id="16" name="Text 9"/>
          <p:cNvSpPr txBox="1"/>
          <p:nvPr/>
        </p:nvSpPr>
        <p:spPr>
          <a:xfrm>
            <a:off x="914400" y="3054096"/>
            <a:ext cx="3611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and run a Bash script</a:t>
            </a:r>
            <a:endParaRPr lang="en-US" sz="1400" dirty="0"/>
          </a:p>
        </p:txBody>
      </p:sp>
      <p:sp>
        <p:nvSpPr>
          <p:cNvPr id="17" name="check circle 5"/>
          <p:cNvSpPr/>
          <p:nvPr/>
        </p:nvSpPr>
        <p:spPr>
          <a:xfrm>
            <a:off x="457200" y="3639312"/>
            <a:ext cx="329184" cy="32918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8" name="check icon 5" descr="check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9496" y="3721608"/>
            <a:ext cx="164592" cy="164592"/>
          </a:xfrm>
          <a:prstGeom prst="rect">
            <a:avLst/>
          </a:prstGeom>
        </p:spPr>
      </p:pic>
      <p:sp>
        <p:nvSpPr>
          <p:cNvPr id="19" name="Text 11"/>
          <p:cNvSpPr txBox="1"/>
          <p:nvPr/>
        </p:nvSpPr>
        <p:spPr>
          <a:xfrm>
            <a:off x="914400" y="3584448"/>
            <a:ext cx="3611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variables and read for input</a:t>
            </a:r>
            <a:endParaRPr lang="en-US" sz="1400" dirty="0"/>
          </a:p>
        </p:txBody>
      </p:sp>
      <p:sp>
        <p:nvSpPr>
          <p:cNvPr id="20" name="check circle 6"/>
          <p:cNvSpPr/>
          <p:nvPr/>
        </p:nvSpPr>
        <p:spPr>
          <a:xfrm>
            <a:off x="457200" y="4169664"/>
            <a:ext cx="329184" cy="32918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1" name="check icon 6" descr="check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9496" y="4251960"/>
            <a:ext cx="164592" cy="164592"/>
          </a:xfrm>
          <a:prstGeom prst="rect">
            <a:avLst/>
          </a:prstGeom>
        </p:spPr>
      </p:pic>
      <p:sp>
        <p:nvSpPr>
          <p:cNvPr id="22" name="Text 13"/>
          <p:cNvSpPr txBox="1"/>
          <p:nvPr/>
        </p:nvSpPr>
        <p:spPr>
          <a:xfrm>
            <a:off x="914400" y="4114800"/>
            <a:ext cx="3611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menu with while and case</a:t>
            </a:r>
            <a:endParaRPr lang="en-US" sz="1400" dirty="0"/>
          </a:p>
        </p:txBody>
      </p:sp>
      <p:sp>
        <p:nvSpPr>
          <p:cNvPr id="23" name="check circle 7"/>
          <p:cNvSpPr/>
          <p:nvPr/>
        </p:nvSpPr>
        <p:spPr>
          <a:xfrm>
            <a:off x="4663440" y="1517904"/>
            <a:ext cx="329184" cy="32918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4" name="check icon 7" descr="check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45736" y="1600200"/>
            <a:ext cx="164592" cy="164592"/>
          </a:xfrm>
          <a:prstGeom prst="rect">
            <a:avLst/>
          </a:prstGeom>
        </p:spPr>
      </p:pic>
      <p:sp>
        <p:nvSpPr>
          <p:cNvPr id="25" name="Text 15"/>
          <p:cNvSpPr txBox="1"/>
          <p:nvPr/>
        </p:nvSpPr>
        <p:spPr>
          <a:xfrm>
            <a:off x="5120640" y="1463040"/>
            <a:ext cx="3611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and call functions</a:t>
            </a:r>
            <a:endParaRPr lang="en-US" sz="1400" dirty="0"/>
          </a:p>
        </p:txBody>
      </p:sp>
      <p:sp>
        <p:nvSpPr>
          <p:cNvPr id="26" name="check circle 8"/>
          <p:cNvSpPr/>
          <p:nvPr/>
        </p:nvSpPr>
        <p:spPr>
          <a:xfrm>
            <a:off x="4663440" y="2048256"/>
            <a:ext cx="329184" cy="32918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7" name="check icon 8" descr="check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45736" y="2130552"/>
            <a:ext cx="164592" cy="164592"/>
          </a:xfrm>
          <a:prstGeom prst="rect">
            <a:avLst/>
          </a:prstGeom>
        </p:spPr>
      </p:pic>
      <p:sp>
        <p:nvSpPr>
          <p:cNvPr id="28" name="Text 17"/>
          <p:cNvSpPr txBox="1"/>
          <p:nvPr/>
        </p:nvSpPr>
        <p:spPr>
          <a:xfrm>
            <a:off x="5120640" y="1993392"/>
            <a:ext cx="3611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and write files with &gt;&gt;, grep, cut</a:t>
            </a:r>
            <a:endParaRPr lang="en-US" sz="1400" dirty="0"/>
          </a:p>
        </p:txBody>
      </p:sp>
      <p:sp>
        <p:nvSpPr>
          <p:cNvPr id="29" name="check circle 9"/>
          <p:cNvSpPr/>
          <p:nvPr/>
        </p:nvSpPr>
        <p:spPr>
          <a:xfrm>
            <a:off x="4663440" y="2578608"/>
            <a:ext cx="329184" cy="32918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30" name="check icon 9" descr="check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45736" y="2660904"/>
            <a:ext cx="164592" cy="164592"/>
          </a:xfrm>
          <a:prstGeom prst="rect">
            <a:avLst/>
          </a:prstGeom>
        </p:spPr>
      </p:pic>
      <p:sp>
        <p:nvSpPr>
          <p:cNvPr id="31" name="Text 19"/>
          <p:cNvSpPr txBox="1"/>
          <p:nvPr/>
        </p:nvSpPr>
        <p:spPr>
          <a:xfrm>
            <a:off x="5120640" y="2523744"/>
            <a:ext cx="3611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arithmetic and if-else logic</a:t>
            </a:r>
            <a:endParaRPr lang="en-US" sz="1400" dirty="0"/>
          </a:p>
        </p:txBody>
      </p:sp>
      <p:sp>
        <p:nvSpPr>
          <p:cNvPr id="32" name="check circle 10"/>
          <p:cNvSpPr/>
          <p:nvPr/>
        </p:nvSpPr>
        <p:spPr>
          <a:xfrm>
            <a:off x="4663440" y="3108960"/>
            <a:ext cx="329184" cy="32918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33" name="check icon 10" descr="check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745736" y="3191256"/>
            <a:ext cx="164592" cy="164592"/>
          </a:xfrm>
          <a:prstGeom prst="rect">
            <a:avLst/>
          </a:prstGeom>
        </p:spPr>
      </p:pic>
      <p:sp>
        <p:nvSpPr>
          <p:cNvPr id="34" name="Text 21"/>
          <p:cNvSpPr txBox="1"/>
          <p:nvPr/>
        </p:nvSpPr>
        <p:spPr>
          <a:xfrm>
            <a:off x="5120640" y="3054096"/>
            <a:ext cx="3611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input using regular expressions</a:t>
            </a:r>
            <a:endParaRPr lang="en-US" sz="1400" dirty="0"/>
          </a:p>
        </p:txBody>
      </p:sp>
      <p:sp>
        <p:nvSpPr>
          <p:cNvPr id="35" name="check circle 11"/>
          <p:cNvSpPr/>
          <p:nvPr/>
        </p:nvSpPr>
        <p:spPr>
          <a:xfrm>
            <a:off x="4663440" y="3639312"/>
            <a:ext cx="329184" cy="32918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36" name="check icon 11" descr="check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745736" y="3721608"/>
            <a:ext cx="164592" cy="164592"/>
          </a:xfrm>
          <a:prstGeom prst="rect">
            <a:avLst/>
          </a:prstGeom>
        </p:spPr>
      </p:pic>
      <p:sp>
        <p:nvSpPr>
          <p:cNvPr id="37" name="Text 23"/>
          <p:cNvSpPr txBox="1"/>
          <p:nvPr/>
        </p:nvSpPr>
        <p:spPr>
          <a:xfrm>
            <a:off x="5120640" y="3584448"/>
            <a:ext cx="3611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and debug a Bash program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757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2F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18. Conclusion</a:t>
            </a:r>
            <a:endParaRPr lang="en-US" sz="30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188720"/>
            <a:ext cx="48463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Student Attendance Management system shows how Linux and Bash can solve a real academic problem. It combines variables, functions, loops, case statements, input validation and file handling.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a beginner project it is a strong base for larger Linux work such as process management, cron automation and log analysis.</a:t>
            </a:r>
            <a:endParaRPr lang="en-US" sz="1600" dirty="0"/>
          </a:p>
        </p:txBody>
      </p:sp>
      <p:sp>
        <p:nvSpPr>
          <p:cNvPr id="5" name="stat tile 1"/>
          <p:cNvSpPr/>
          <p:nvPr/>
        </p:nvSpPr>
        <p:spPr>
          <a:xfrm>
            <a:off x="5577840" y="1188720"/>
            <a:ext cx="3108960" cy="1051560"/>
          </a:xfrm>
          <a:prstGeom prst="roundRect">
            <a:avLst>
              <a:gd name="adj" fmla="val 869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760720" y="1188720"/>
            <a:ext cx="1188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B8A7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3600" dirty="0"/>
          </a:p>
        </p:txBody>
      </p:sp>
      <p:sp>
        <p:nvSpPr>
          <p:cNvPr id="7" name="Text 4"/>
          <p:cNvSpPr txBox="1"/>
          <p:nvPr/>
        </p:nvSpPr>
        <p:spPr>
          <a:xfrm>
            <a:off x="6949440" y="1188720"/>
            <a:ext cx="1645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 functions</a:t>
            </a:r>
            <a:endParaRPr lang="en-US" sz="1500" dirty="0"/>
          </a:p>
        </p:txBody>
      </p:sp>
      <p:sp>
        <p:nvSpPr>
          <p:cNvPr id="8" name="stat tile 2"/>
          <p:cNvSpPr/>
          <p:nvPr/>
        </p:nvSpPr>
        <p:spPr>
          <a:xfrm>
            <a:off x="5577840" y="2359152"/>
            <a:ext cx="3108960" cy="1051560"/>
          </a:xfrm>
          <a:prstGeom prst="roundRect">
            <a:avLst>
              <a:gd name="adj" fmla="val 869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760720" y="2359152"/>
            <a:ext cx="1188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B8A7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600" dirty="0"/>
          </a:p>
        </p:txBody>
      </p:sp>
      <p:sp>
        <p:nvSpPr>
          <p:cNvPr id="10" name="Text 7"/>
          <p:cNvSpPr txBox="1"/>
          <p:nvPr/>
        </p:nvSpPr>
        <p:spPr>
          <a:xfrm>
            <a:off x="6949440" y="2359152"/>
            <a:ext cx="1645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data files</a:t>
            </a:r>
            <a:endParaRPr lang="en-US" sz="1500" dirty="0"/>
          </a:p>
        </p:txBody>
      </p:sp>
      <p:sp>
        <p:nvSpPr>
          <p:cNvPr id="11" name="stat tile 3"/>
          <p:cNvSpPr/>
          <p:nvPr/>
        </p:nvSpPr>
        <p:spPr>
          <a:xfrm>
            <a:off x="5577840" y="3529584"/>
            <a:ext cx="3108960" cy="1051560"/>
          </a:xfrm>
          <a:prstGeom prst="roundRect">
            <a:avLst>
              <a:gd name="adj" fmla="val 869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760720" y="3529584"/>
            <a:ext cx="1188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B8A7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75%</a:t>
            </a:r>
            <a:endParaRPr lang="en-US" sz="3600" dirty="0"/>
          </a:p>
        </p:txBody>
      </p:sp>
      <p:sp>
        <p:nvSpPr>
          <p:cNvPr id="13" name="Text 10"/>
          <p:cNvSpPr txBox="1"/>
          <p:nvPr/>
        </p:nvSpPr>
        <p:spPr>
          <a:xfrm>
            <a:off x="6949440" y="3529584"/>
            <a:ext cx="1645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attendance rule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757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19. References</a:t>
            </a:r>
            <a:endParaRPr lang="en-US" sz="3000" dirty="0"/>
          </a:p>
        </p:txBody>
      </p:sp>
      <p:sp>
        <p:nvSpPr>
          <p:cNvPr id="4" name="references panel"/>
          <p:cNvSpPr/>
          <p:nvPr/>
        </p:nvSpPr>
        <p:spPr>
          <a:xfrm>
            <a:off x="457200" y="1143000"/>
            <a:ext cx="4572000" cy="3520440"/>
          </a:xfrm>
          <a:prstGeom prst="roundRect">
            <a:avLst>
              <a:gd name="adj" fmla="val 2597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5" name="references icon circle"/>
          <p:cNvSpPr/>
          <p:nvPr/>
        </p:nvSpPr>
        <p:spPr>
          <a:xfrm>
            <a:off x="685800" y="132588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references icon" descr="references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1530" y="1451610"/>
            <a:ext cx="251460" cy="25146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731520" y="2011680"/>
            <a:ext cx="40233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man-pages: bash, grep, cut, printf, date, chmod, mkdir, cd, nano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GNU Bash Reference Manual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Ubuntu Linux documentation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notes and lab material from the faculty</a:t>
            </a:r>
            <a:endParaRPr lang="en-US" sz="1600" dirty="0"/>
          </a:p>
        </p:txBody>
      </p:sp>
      <p:sp>
        <p:nvSpPr>
          <p:cNvPr id="8" name="Text 4"/>
          <p:cNvSpPr txBox="1"/>
          <p:nvPr/>
        </p:nvSpPr>
        <p:spPr>
          <a:xfrm>
            <a:off x="5394960" y="146304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9" name="Text 5"/>
          <p:cNvSpPr txBox="1"/>
          <p:nvPr/>
        </p:nvSpPr>
        <p:spPr>
          <a:xfrm>
            <a:off x="5394960" y="228600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CFE3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questions?</a:t>
            </a:r>
            <a:endParaRPr lang="en-US" sz="1800" dirty="0"/>
          </a:p>
        </p:txBody>
      </p:sp>
      <p:sp>
        <p:nvSpPr>
          <p:cNvPr id="10" name="Text 6"/>
          <p:cNvSpPr txBox="1"/>
          <p:nvPr/>
        </p:nvSpPr>
        <p:spPr>
          <a:xfrm>
            <a:off x="5394960" y="329184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VENKATESH SHARMA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TALLURU BHARATA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MANCHALA KEERTHY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MOHAMMAD IDRIS AHMED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B8B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ttendance Teal">
  <a:themeElements>
    <a:clrScheme name="Attendance Teal">
      <a:dk1>
        <a:srgbClr val="0E2F2E"/>
      </a:dk1>
      <a:lt1>
        <a:srgbClr val="FFFFFF"/>
      </a:lt1>
      <a:dk2>
        <a:srgbClr val="1B5E5A"/>
      </a:dk2>
      <a:lt2>
        <a:srgbClr val="EAF3F1"/>
      </a:lt2>
      <a:accent1>
        <a:srgbClr val="1B8A7F"/>
      </a:accent1>
      <a:accent2>
        <a:srgbClr val="F2A33A"/>
      </a:accent2>
      <a:accent3>
        <a:srgbClr val="D9534F"/>
      </a:accent3>
      <a:accent4>
        <a:srgbClr val="2E8B57"/>
      </a:accent4>
      <a:accent5>
        <a:srgbClr val="5B7C99"/>
      </a:accent5>
      <a:accent6>
        <a:srgbClr val="8FB8B0"/>
      </a:accent6>
      <a:hlink>
        <a:srgbClr val="1B8A7F"/>
      </a:hlink>
      <a:folHlink>
        <a:srgbClr val="5B7C99"/>
      </a:folHlink>
    </a:clrScheme>
    <a:fontScheme name="Attendance Teal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Student Attendance Management - Linux Mini Project</dc:title>
  <dc:subject>PptxGenJS Presentation</dc:subject>
  <dc:creator>Venkatesh Sharma &amp; Talluru Bharata</dc:creator>
  <cp:lastModifiedBy>Venkatesh Sharma &amp; Talluru Bharata</cp:lastModifiedBy>
  <cp:revision>1</cp:revision>
  <dcterms:created xsi:type="dcterms:W3CDTF">2026-10-12T04:33:53Z</dcterms:created>
  <dcterms:modified xsi:type="dcterms:W3CDTF">2026-10-12T04:33:53Z</dcterms:modified>
</cp:coreProperties>
</file>